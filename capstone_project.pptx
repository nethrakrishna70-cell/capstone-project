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8" r:id="rId21"/>
    <p:sldId id="274" r:id="rId22"/>
    <p:sldId id="275" r:id="rId23"/>
    <p:sldId id="276" r:id="rId24"/>
    <p:sldId id="279" r:id="rId25"/>
    <p:sldId id="280" r:id="rId26"/>
    <p:sldId id="281" r:id="rId27"/>
    <p:sldId id="282" r:id="rId28"/>
    <p:sldId id="283" r:id="rId29"/>
    <p:sldId id="284" r:id="rId30"/>
    <p:sldId id="285" r:id="rId31"/>
    <p:sldId id="289" r:id="rId32"/>
    <p:sldId id="286" r:id="rId33"/>
    <p:sldId id="287" r:id="rId34"/>
    <p:sldId id="288" r:id="rId35"/>
    <p:sldId id="290" r:id="rId36"/>
    <p:sldId id="291" r:id="rId37"/>
    <p:sldId id="292" r:id="rId38"/>
    <p:sldId id="295" r:id="rId39"/>
    <p:sldId id="296" r:id="rId40"/>
    <p:sldId id="297" r:id="rId41"/>
    <p:sldId id="293" r:id="rId42"/>
    <p:sldId id="29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D86817-6743-4D41-B517-0784E3B3C6C6}" v="58" dt="2025-11-16T19:09:12.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99AB8-38F2-4D3A-BC9D-576242E780C6}"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E75D7116-2EF6-47F5-9976-8E52A8043586}"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88013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99AB8-38F2-4D3A-BC9D-576242E780C6}"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5D7116-2EF6-47F5-9976-8E52A8043586}"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64599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99AB8-38F2-4D3A-BC9D-576242E780C6}"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43137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99AB8-38F2-4D3A-BC9D-576242E780C6}"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5D7116-2EF6-47F5-9976-8E52A8043586}"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96871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99AB8-38F2-4D3A-BC9D-576242E780C6}"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2005444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99AB8-38F2-4D3A-BC9D-576242E780C6}"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5D7116-2EF6-47F5-9976-8E52A8043586}"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357087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p:cNvSpPr>
            <a:spLocks noGrp="1"/>
          </p:cNvSpPr>
          <p:nvPr>
            <p:ph type="dt" sz="half" idx="10"/>
          </p:nvPr>
        </p:nvSpPr>
        <p:spPr/>
        <p:txBody>
          <a:bodyPr/>
          <a:lstStyle/>
          <a:p>
            <a:fld id="{D3499AB8-38F2-4D3A-BC9D-576242E780C6}"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45479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499AB8-38F2-4D3A-BC9D-576242E780C6}"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862603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499AB8-38F2-4D3A-BC9D-576242E780C6}"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27268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99AB8-38F2-4D3A-BC9D-576242E780C6}"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294312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99AB8-38F2-4D3A-BC9D-576242E780C6}"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5D7116-2EF6-47F5-9976-8E52A8043586}" type="slidenum">
              <a:rPr lang="en-IN" smtClean="0"/>
              <a:t>‹#›</a:t>
            </a:fld>
            <a:endParaRPr lang="en-IN"/>
          </a:p>
        </p:txBody>
      </p:sp>
    </p:spTree>
    <p:extLst>
      <p:ext uri="{BB962C8B-B14F-4D97-AF65-F5344CB8AC3E}">
        <p14:creationId xmlns:p14="http://schemas.microsoft.com/office/powerpoint/2010/main" val="255887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D3499AB8-38F2-4D3A-BC9D-576242E780C6}" type="datetimeFigureOut">
              <a:rPr lang="en-IN" smtClean="0"/>
              <a:t>17-11-2025</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E75D7116-2EF6-47F5-9976-8E52A8043586}"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312345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B4C3-D6C3-62AF-BBF9-9A32A29EE76B}"/>
              </a:ext>
            </a:extLst>
          </p:cNvPr>
          <p:cNvSpPr>
            <a:spLocks noGrp="1"/>
          </p:cNvSpPr>
          <p:nvPr>
            <p:ph type="ctrTitle"/>
          </p:nvPr>
        </p:nvSpPr>
        <p:spPr>
          <a:xfrm>
            <a:off x="2611808" y="3227830"/>
            <a:ext cx="5518066" cy="3136394"/>
          </a:xfrm>
        </p:spPr>
        <p:txBody>
          <a:bodyPr>
            <a:noAutofit/>
          </a:bodyPr>
          <a:lstStyle/>
          <a:p>
            <a:r>
              <a:rPr lang="en-IN" sz="2400" dirty="0"/>
              <a:t>Capstone Project</a:t>
            </a:r>
            <a:br>
              <a:rPr lang="en-IN" sz="2400" dirty="0"/>
            </a:br>
            <a:r>
              <a:rPr lang="en-IN" sz="2400" dirty="0"/>
              <a:t>Title: Bank Loan Default Prediction</a:t>
            </a:r>
            <a:br>
              <a:rPr lang="en-IN" sz="2400" dirty="0"/>
            </a:br>
            <a:r>
              <a:rPr lang="en-IN" sz="2400" dirty="0"/>
              <a:t>Name: Nethra K</a:t>
            </a:r>
            <a:br>
              <a:rPr lang="en-IN" sz="2400" dirty="0"/>
            </a:br>
            <a:r>
              <a:rPr lang="en-IN" sz="2400" dirty="0"/>
              <a:t>             Shreya H K</a:t>
            </a:r>
            <a:br>
              <a:rPr lang="en-IN" sz="2400" dirty="0"/>
            </a:br>
            <a:r>
              <a:rPr lang="en-IN" sz="2400" dirty="0"/>
              <a:t>             Vanitha Shree</a:t>
            </a:r>
            <a:br>
              <a:rPr lang="en-IN" sz="2400" dirty="0"/>
            </a:br>
            <a:r>
              <a:rPr lang="en-IN" sz="2400" dirty="0"/>
              <a:t>             Manasa R</a:t>
            </a:r>
            <a:br>
              <a:rPr lang="en-IN" sz="2400" dirty="0"/>
            </a:br>
            <a:r>
              <a:rPr lang="en-IN" sz="2400" dirty="0"/>
              <a:t>             Nageshwari S</a:t>
            </a:r>
            <a:br>
              <a:rPr lang="en-IN" sz="2400" dirty="0"/>
            </a:br>
            <a:r>
              <a:rPr lang="en-IN" sz="2400" dirty="0"/>
              <a:t>             Bhuvana TS</a:t>
            </a:r>
            <a:br>
              <a:rPr lang="en-IN" sz="2400" dirty="0"/>
            </a:br>
            <a:r>
              <a:rPr lang="en-IN" sz="2400" dirty="0"/>
              <a:t>College: BCU</a:t>
            </a:r>
          </a:p>
        </p:txBody>
      </p:sp>
      <p:sp>
        <p:nvSpPr>
          <p:cNvPr id="3" name="Subtitle 2">
            <a:extLst>
              <a:ext uri="{FF2B5EF4-FFF2-40B4-BE49-F238E27FC236}">
                <a16:creationId xmlns:a16="http://schemas.microsoft.com/office/drawing/2014/main" id="{12A7C2DE-CD11-2496-856C-AF82F92A71AF}"/>
              </a:ext>
            </a:extLst>
          </p:cNvPr>
          <p:cNvSpPr>
            <a:spLocks noGrp="1"/>
          </p:cNvSpPr>
          <p:nvPr>
            <p:ph type="subTitle" idx="1"/>
          </p:nvPr>
        </p:nvSpPr>
        <p:spPr>
          <a:xfrm>
            <a:off x="1673352" y="1984248"/>
            <a:ext cx="6456522" cy="1444751"/>
          </a:xfrm>
        </p:spPr>
        <p:txBody>
          <a:bodyPr>
            <a:normAutofit fontScale="92500"/>
          </a:bodyPr>
          <a:lstStyle/>
          <a:p>
            <a:r>
              <a:rPr lang="en-IN" sz="4000" b="1" dirty="0"/>
              <a:t>Foundational Data Analysis</a:t>
            </a:r>
          </a:p>
          <a:p>
            <a:endParaRPr lang="en-IN" dirty="0"/>
          </a:p>
        </p:txBody>
      </p:sp>
    </p:spTree>
    <p:extLst>
      <p:ext uri="{BB962C8B-B14F-4D97-AF65-F5344CB8AC3E}">
        <p14:creationId xmlns:p14="http://schemas.microsoft.com/office/powerpoint/2010/main" val="3880362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661D-2679-2093-34C5-1FC6EFE12354}"/>
              </a:ext>
            </a:extLst>
          </p:cNvPr>
          <p:cNvSpPr>
            <a:spLocks noGrp="1"/>
          </p:cNvSpPr>
          <p:nvPr>
            <p:ph type="title"/>
          </p:nvPr>
        </p:nvSpPr>
        <p:spPr/>
        <p:txBody>
          <a:bodyPr/>
          <a:lstStyle/>
          <a:p>
            <a:pPr algn="l"/>
            <a:r>
              <a:rPr lang="en-IN" sz="3600" b="1" dirty="0"/>
              <a:t>AGENDA</a:t>
            </a:r>
            <a:br>
              <a:rPr lang="en-IN" sz="3600" b="1" dirty="0"/>
            </a:br>
            <a:endParaRPr lang="en-IN" dirty="0"/>
          </a:p>
        </p:txBody>
      </p:sp>
      <p:sp>
        <p:nvSpPr>
          <p:cNvPr id="3" name="Content Placeholder 2">
            <a:extLst>
              <a:ext uri="{FF2B5EF4-FFF2-40B4-BE49-F238E27FC236}">
                <a16:creationId xmlns:a16="http://schemas.microsoft.com/office/drawing/2014/main" id="{ED4D3E94-CD2B-207D-88CE-08170E3E3FD2}"/>
              </a:ext>
            </a:extLst>
          </p:cNvPr>
          <p:cNvSpPr>
            <a:spLocks noGrp="1"/>
          </p:cNvSpPr>
          <p:nvPr>
            <p:ph idx="1"/>
          </p:nvPr>
        </p:nvSpPr>
        <p:spPr>
          <a:xfrm>
            <a:off x="2468880" y="1700784"/>
            <a:ext cx="8101259" cy="4605192"/>
          </a:xfrm>
        </p:spPr>
        <p:txBody>
          <a:bodyPr>
            <a:normAutofit fontScale="55000" lnSpcReduction="20000"/>
          </a:bodyPr>
          <a:lstStyle/>
          <a:p>
            <a:pPr marL="285750" indent="-285750">
              <a:buFont typeface="Arial" panose="020B0604020202020204" pitchFamily="34" charset="0"/>
              <a:buChar char="•"/>
            </a:pPr>
            <a:r>
              <a:rPr lang="en-IN" sz="2900" dirty="0"/>
              <a:t>Project Overview</a:t>
            </a:r>
          </a:p>
          <a:p>
            <a:pPr marL="285750" indent="-285750">
              <a:buFont typeface="Arial" panose="020B0604020202020204" pitchFamily="34" charset="0"/>
              <a:buChar char="•"/>
            </a:pPr>
            <a:r>
              <a:rPr lang="en-IN" sz="2900" dirty="0"/>
              <a:t>Research Questions / Objectives</a:t>
            </a:r>
          </a:p>
          <a:p>
            <a:pPr marL="285750" indent="-285750">
              <a:buFont typeface="Arial" panose="020B0604020202020204" pitchFamily="34" charset="0"/>
              <a:buChar char="•"/>
            </a:pPr>
            <a:r>
              <a:rPr lang="en-IN" sz="2900" dirty="0"/>
              <a:t>Dataset Description</a:t>
            </a:r>
          </a:p>
          <a:p>
            <a:pPr marL="285750" indent="-285750">
              <a:buFont typeface="Arial" panose="020B0604020202020204" pitchFamily="34" charset="0"/>
              <a:buChar char="•"/>
            </a:pPr>
            <a:r>
              <a:rPr lang="en-IN" sz="2900" dirty="0"/>
              <a:t>Data Preparation (SQL + Cleaning)</a:t>
            </a:r>
          </a:p>
          <a:p>
            <a:pPr marL="285750" indent="-285750">
              <a:buFont typeface="Arial" panose="020B0604020202020204" pitchFamily="34" charset="0"/>
              <a:buChar char="•"/>
            </a:pPr>
            <a:r>
              <a:rPr lang="en-IN" sz="2900" dirty="0"/>
              <a:t>Descriptive Statistics</a:t>
            </a:r>
          </a:p>
          <a:p>
            <a:pPr marL="285750" indent="-285750">
              <a:buFont typeface="Arial" panose="020B0604020202020204" pitchFamily="34" charset="0"/>
              <a:buChar char="•"/>
            </a:pPr>
            <a:r>
              <a:rPr lang="en-IN" sz="2900" dirty="0"/>
              <a:t>Inferential Statistics</a:t>
            </a:r>
          </a:p>
          <a:p>
            <a:pPr marL="285750" indent="-285750">
              <a:buFont typeface="Arial" panose="020B0604020202020204" pitchFamily="34" charset="0"/>
              <a:buChar char="•"/>
            </a:pPr>
            <a:r>
              <a:rPr lang="en-IN" sz="2900" dirty="0"/>
              <a:t>Correlation &amp; Relationships (EDA)</a:t>
            </a:r>
          </a:p>
          <a:p>
            <a:pPr marL="285750" indent="-285750">
              <a:buFont typeface="Arial" panose="020B0604020202020204" pitchFamily="34" charset="0"/>
              <a:buChar char="•"/>
            </a:pPr>
            <a:r>
              <a:rPr lang="en-IN" sz="2900" dirty="0"/>
              <a:t>Linear Regression Model</a:t>
            </a:r>
          </a:p>
          <a:p>
            <a:pPr marL="285750" indent="-285750">
              <a:buFont typeface="Arial" panose="020B0604020202020204" pitchFamily="34" charset="0"/>
              <a:buChar char="•"/>
            </a:pPr>
            <a:r>
              <a:rPr lang="en-IN" sz="2900" dirty="0"/>
              <a:t>Key Insights &amp; Interpretation</a:t>
            </a:r>
          </a:p>
          <a:p>
            <a:pPr marL="285750" indent="-285750">
              <a:buFont typeface="Arial" panose="020B0604020202020204" pitchFamily="34" charset="0"/>
              <a:buChar char="•"/>
            </a:pPr>
            <a:r>
              <a:rPr lang="en-IN" sz="2900" dirty="0"/>
              <a:t>Conclusion</a:t>
            </a:r>
          </a:p>
          <a:p>
            <a:endParaRPr lang="en-IN" dirty="0"/>
          </a:p>
        </p:txBody>
      </p:sp>
    </p:spTree>
    <p:extLst>
      <p:ext uri="{BB962C8B-B14F-4D97-AF65-F5344CB8AC3E}">
        <p14:creationId xmlns:p14="http://schemas.microsoft.com/office/powerpoint/2010/main" val="266949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A6AE-789E-EB7E-86B6-AABC50AA7459}"/>
              </a:ext>
            </a:extLst>
          </p:cNvPr>
          <p:cNvSpPr>
            <a:spLocks noGrp="1"/>
          </p:cNvSpPr>
          <p:nvPr>
            <p:ph type="title"/>
          </p:nvPr>
        </p:nvSpPr>
        <p:spPr>
          <a:xfrm>
            <a:off x="2447216" y="2591136"/>
            <a:ext cx="7958331" cy="1077229"/>
          </a:xfrm>
        </p:spPr>
        <p:txBody>
          <a:bodyPr/>
          <a:lstStyle/>
          <a:p>
            <a:pPr algn="l"/>
            <a:r>
              <a:rPr lang="en-US" dirty="0"/>
              <a:t>Introduction and Statement</a:t>
            </a:r>
            <a:endParaRPr lang="en-IN" dirty="0"/>
          </a:p>
        </p:txBody>
      </p:sp>
    </p:spTree>
    <p:extLst>
      <p:ext uri="{BB962C8B-B14F-4D97-AF65-F5344CB8AC3E}">
        <p14:creationId xmlns:p14="http://schemas.microsoft.com/office/powerpoint/2010/main" val="3134693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FC7C17-5F57-1294-6418-38F9A24B0358}"/>
              </a:ext>
            </a:extLst>
          </p:cNvPr>
          <p:cNvSpPr>
            <a:spLocks noGrp="1"/>
          </p:cNvSpPr>
          <p:nvPr>
            <p:ph type="title"/>
          </p:nvPr>
        </p:nvSpPr>
        <p:spPr/>
        <p:txBody>
          <a:bodyPr/>
          <a:lstStyle/>
          <a:p>
            <a:pPr algn="l"/>
            <a:r>
              <a:rPr lang="en-US" altLang="en-US" sz="3600" b="1" dirty="0">
                <a:latin typeface="Arial" panose="020B0604020202020204" pitchFamily="34" charset="0"/>
              </a:rPr>
              <a:t>Background</a:t>
            </a:r>
            <a:br>
              <a:rPr lang="en-US" altLang="en-US" sz="3600" b="1" dirty="0">
                <a:latin typeface="Arial" panose="020B0604020202020204" pitchFamily="34" charset="0"/>
              </a:rPr>
            </a:br>
            <a:endParaRPr lang="en-IN" dirty="0"/>
          </a:p>
        </p:txBody>
      </p:sp>
      <p:sp>
        <p:nvSpPr>
          <p:cNvPr id="8" name="Content Placeholder 7">
            <a:extLst>
              <a:ext uri="{FF2B5EF4-FFF2-40B4-BE49-F238E27FC236}">
                <a16:creationId xmlns:a16="http://schemas.microsoft.com/office/drawing/2014/main" id="{A1EEBD68-B390-B5DC-422E-2EA5016543C5}"/>
              </a:ext>
            </a:extLst>
          </p:cNvPr>
          <p:cNvSpPr>
            <a:spLocks noGrp="1"/>
          </p:cNvSpPr>
          <p:nvPr>
            <p:ph idx="1"/>
          </p:nvPr>
        </p:nvSpPr>
        <p:spPr/>
        <p:txBody>
          <a:bodyPr/>
          <a:lstStyle/>
          <a:p>
            <a:r>
              <a:rPr lang="en-US" dirty="0"/>
              <a:t>Loan approval decisions are critical in the financial industry, impacting both lenders and borrowers. With millions of loan applications processed annually in India, effective assessment of creditworthiness is essential for minimizing risk and maximizing approval rates for creditworthy applicants. Traditional methods rely on credit scores and manual underwriting, but integrating machine learning into loan approval processes can enhance accuracy and provide personalized insights for lenders.</a:t>
            </a:r>
            <a:endParaRPr lang="en-IN" dirty="0"/>
          </a:p>
        </p:txBody>
      </p:sp>
    </p:spTree>
    <p:extLst>
      <p:ext uri="{BB962C8B-B14F-4D97-AF65-F5344CB8AC3E}">
        <p14:creationId xmlns:p14="http://schemas.microsoft.com/office/powerpoint/2010/main" val="1220318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7399-545E-4EF4-AC88-3751E103C86B}"/>
              </a:ext>
            </a:extLst>
          </p:cNvPr>
          <p:cNvSpPr>
            <a:spLocks noGrp="1"/>
          </p:cNvSpPr>
          <p:nvPr>
            <p:ph type="title"/>
          </p:nvPr>
        </p:nvSpPr>
        <p:spPr/>
        <p:txBody>
          <a:bodyPr/>
          <a:lstStyle/>
          <a:p>
            <a:pPr algn="l"/>
            <a:r>
              <a:rPr lang="en-US" sz="3600" b="1" dirty="0"/>
              <a:t>Goal of the Project</a:t>
            </a:r>
            <a:br>
              <a:rPr lang="en-US" b="1" dirty="0"/>
            </a:br>
            <a:endParaRPr lang="en-IN" dirty="0"/>
          </a:p>
        </p:txBody>
      </p:sp>
      <p:sp>
        <p:nvSpPr>
          <p:cNvPr id="3" name="Content Placeholder 2">
            <a:extLst>
              <a:ext uri="{FF2B5EF4-FFF2-40B4-BE49-F238E27FC236}">
                <a16:creationId xmlns:a16="http://schemas.microsoft.com/office/drawing/2014/main" id="{5F8508E0-26B1-49C2-8597-9F6BCA3DE533}"/>
              </a:ext>
            </a:extLst>
          </p:cNvPr>
          <p:cNvSpPr>
            <a:spLocks noGrp="1"/>
          </p:cNvSpPr>
          <p:nvPr>
            <p:ph idx="1"/>
          </p:nvPr>
        </p:nvSpPr>
        <p:spPr/>
        <p:txBody>
          <a:bodyPr/>
          <a:lstStyle/>
          <a:p>
            <a:r>
              <a:rPr lang="en-US" dirty="0"/>
              <a:t>The goal of this project is to build a robust and interpretable machine learning model capable of predicting load demands accurately. Using techniques such as time series analysis, feature engineering, and regression models, the project seeks to provide data-driven insights that can aid in load forecasting and management. Additionally, deploying the model via Streamlit ensures accessibility, allowing users to interact with the predictions through a user-friendly web application.</a:t>
            </a:r>
            <a:endParaRPr lang="en-IN" dirty="0"/>
          </a:p>
        </p:txBody>
      </p:sp>
    </p:spTree>
    <p:extLst>
      <p:ext uri="{BB962C8B-B14F-4D97-AF65-F5344CB8AC3E}">
        <p14:creationId xmlns:p14="http://schemas.microsoft.com/office/powerpoint/2010/main" val="168479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4AA96-D668-E113-102A-418E098C34BA}"/>
              </a:ext>
            </a:extLst>
          </p:cNvPr>
          <p:cNvSpPr>
            <a:spLocks noGrp="1"/>
          </p:cNvSpPr>
          <p:nvPr>
            <p:ph type="title"/>
          </p:nvPr>
        </p:nvSpPr>
        <p:spPr/>
        <p:txBody>
          <a:bodyPr/>
          <a:lstStyle/>
          <a:p>
            <a:pPr algn="l"/>
            <a:r>
              <a:rPr lang="en-US" sz="3600" b="1" dirty="0"/>
              <a:t>Objective</a:t>
            </a:r>
            <a:br>
              <a:rPr lang="en-US" sz="3200" b="1" dirty="0"/>
            </a:br>
            <a:endParaRPr lang="en-IN" dirty="0"/>
          </a:p>
        </p:txBody>
      </p:sp>
      <p:sp>
        <p:nvSpPr>
          <p:cNvPr id="3" name="Content Placeholder 2">
            <a:extLst>
              <a:ext uri="{FF2B5EF4-FFF2-40B4-BE49-F238E27FC236}">
                <a16:creationId xmlns:a16="http://schemas.microsoft.com/office/drawing/2014/main" id="{4B876A23-8FF7-8934-9400-0EA301E13868}"/>
              </a:ext>
            </a:extLst>
          </p:cNvPr>
          <p:cNvSpPr>
            <a:spLocks noGrp="1"/>
          </p:cNvSpPr>
          <p:nvPr>
            <p:ph idx="1"/>
          </p:nvPr>
        </p:nvSpPr>
        <p:spPr/>
        <p:txBody>
          <a:bodyPr/>
          <a:lstStyle/>
          <a:p>
            <a:r>
              <a:rPr lang="en-US" dirty="0"/>
              <a:t>The primary objective of this study is to develop a machine learning-based  predictive model that can assess loan approval likelihood based on various demographic, financial, and loan-specific factors. By analyzing historical loan application data, the model aims to identify key factors influencing loan approval and estimate the probability of approval for new applicants. This can help lenders in risk assessment, decision-making, and optimizing loan approval processes.</a:t>
            </a:r>
          </a:p>
          <a:p>
            <a:endParaRPr lang="en-IN" dirty="0"/>
          </a:p>
        </p:txBody>
      </p:sp>
    </p:spTree>
    <p:extLst>
      <p:ext uri="{BB962C8B-B14F-4D97-AF65-F5344CB8AC3E}">
        <p14:creationId xmlns:p14="http://schemas.microsoft.com/office/powerpoint/2010/main" val="2617534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73298-3E4A-F789-F5A1-7C881EA276E8}"/>
              </a:ext>
            </a:extLst>
          </p:cNvPr>
          <p:cNvSpPr>
            <a:spLocks noGrp="1"/>
          </p:cNvSpPr>
          <p:nvPr>
            <p:ph type="title"/>
          </p:nvPr>
        </p:nvSpPr>
        <p:spPr>
          <a:xfrm>
            <a:off x="3346704" y="2890385"/>
            <a:ext cx="9198539" cy="1077229"/>
          </a:xfrm>
        </p:spPr>
        <p:txBody>
          <a:bodyPr/>
          <a:lstStyle/>
          <a:p>
            <a:pPr algn="l"/>
            <a:r>
              <a:rPr lang="en-IN" sz="3600" b="1" dirty="0"/>
              <a:t>Project Overview</a:t>
            </a:r>
            <a:br>
              <a:rPr lang="en-IN" sz="3600" b="1" dirty="0"/>
            </a:br>
            <a:endParaRPr lang="en-IN" dirty="0"/>
          </a:p>
        </p:txBody>
      </p:sp>
    </p:spTree>
    <p:extLst>
      <p:ext uri="{BB962C8B-B14F-4D97-AF65-F5344CB8AC3E}">
        <p14:creationId xmlns:p14="http://schemas.microsoft.com/office/powerpoint/2010/main" val="3133875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136257-B0A7-9DB6-A878-17679AD63614}"/>
              </a:ext>
            </a:extLst>
          </p:cNvPr>
          <p:cNvSpPr>
            <a:spLocks noGrp="1"/>
          </p:cNvSpPr>
          <p:nvPr>
            <p:ph idx="1"/>
          </p:nvPr>
        </p:nvSpPr>
        <p:spPr>
          <a:xfrm>
            <a:off x="1527048" y="420624"/>
            <a:ext cx="9043091" cy="5629320"/>
          </a:xfrm>
        </p:spPr>
        <p:txBody>
          <a:bodyPr/>
          <a:lstStyle/>
          <a:p>
            <a:r>
              <a:rPr lang="en-US" b="1" dirty="0"/>
              <a:t>Purpose : </a:t>
            </a:r>
            <a:r>
              <a:rPr lang="en-US" dirty="0"/>
              <a:t>The purpose of this project is to predict whether a customer defaults on a loan and to analyze patterns in approval data within the Banking/Finance domain.</a:t>
            </a:r>
          </a:p>
          <a:p>
            <a:r>
              <a:rPr lang="en-US" b="1" dirty="0"/>
              <a:t>Objective: </a:t>
            </a:r>
            <a:r>
              <a:rPr lang="en-US" dirty="0"/>
              <a:t>To analyze the relationships between variables like age, income, credit score, loan amount, gender, date, education level, interest rate, region, loan term, loan purpose, loan approved, loan status, martial status.</a:t>
            </a:r>
          </a:p>
          <a:p>
            <a:r>
              <a:rPr lang="en-US" b="1" dirty="0"/>
              <a:t>Tools Used: </a:t>
            </a:r>
            <a:r>
              <a:rPr lang="en-US" dirty="0"/>
              <a:t>Python (Numpy, Pandas, Seaborn, Matplotlib, Scikit-learn), SQL, Statistics</a:t>
            </a:r>
          </a:p>
          <a:p>
            <a:r>
              <a:rPr lang="en-US" b="1" dirty="0"/>
              <a:t>Dataset: </a:t>
            </a:r>
            <a:r>
              <a:rPr lang="en-US" dirty="0"/>
              <a:t>1000+ loan records with variables — age, income, credit score, loan amount, gender, date, education level, interest rate, region, loan term, loan purpose, loan approved, loan status, martial status.</a:t>
            </a:r>
          </a:p>
          <a:p>
            <a:endParaRPr lang="en-IN" dirty="0"/>
          </a:p>
        </p:txBody>
      </p:sp>
    </p:spTree>
    <p:extLst>
      <p:ext uri="{BB962C8B-B14F-4D97-AF65-F5344CB8AC3E}">
        <p14:creationId xmlns:p14="http://schemas.microsoft.com/office/powerpoint/2010/main" val="678342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B8FD9-2B65-4E8B-23BD-4623FDE48B8B}"/>
              </a:ext>
            </a:extLst>
          </p:cNvPr>
          <p:cNvSpPr>
            <a:spLocks noGrp="1"/>
          </p:cNvSpPr>
          <p:nvPr>
            <p:ph idx="1"/>
          </p:nvPr>
        </p:nvSpPr>
        <p:spPr>
          <a:xfrm>
            <a:off x="1316736" y="182880"/>
            <a:ext cx="9692315" cy="6483096"/>
          </a:xfrm>
        </p:spPr>
        <p:txBody>
          <a:bodyPr>
            <a:noAutofit/>
          </a:bodyPr>
          <a:lstStyle/>
          <a:p>
            <a:r>
              <a:rPr lang="en-IN" sz="2400" b="1" dirty="0"/>
              <a:t>Dataset Description</a:t>
            </a:r>
            <a:endParaRPr lang="en-US" sz="2400" b="1" dirty="0"/>
          </a:p>
          <a:p>
            <a:r>
              <a:rPr lang="en-US" sz="2400" b="1" dirty="0"/>
              <a:t>Purpose:</a:t>
            </a:r>
            <a:r>
              <a:rPr lang="en-US" sz="2400" dirty="0"/>
              <a:t> To predict whether a customer defaults on a loan and analyze </a:t>
            </a:r>
          </a:p>
          <a:p>
            <a:r>
              <a:rPr lang="en-US" sz="2400" dirty="0"/>
              <a:t> patterns in approval data in the Banking/Finance domain.</a:t>
            </a:r>
          </a:p>
          <a:p>
            <a:r>
              <a:rPr lang="en-US" sz="2400" b="1" dirty="0"/>
              <a:t>Include:  </a:t>
            </a:r>
          </a:p>
          <a:p>
            <a:r>
              <a:rPr lang="en-US" sz="2400" b="1" dirty="0"/>
              <a:t>Variables:</a:t>
            </a:r>
            <a:r>
              <a:rPr lang="en-US" sz="2400" dirty="0"/>
              <a:t> </a:t>
            </a:r>
            <a:r>
              <a:rPr lang="en-IN" sz="2400" dirty="0"/>
              <a:t> Income, age, Credit_score, loan amount, </a:t>
            </a:r>
            <a:r>
              <a:rPr lang="en-US" sz="2400" dirty="0"/>
              <a:t>Gender , Date, Education level, Interest rate, Region, loan term , loan purpose, loan approved, loan status, martial status.</a:t>
            </a:r>
            <a:endParaRPr lang="en-IN" sz="2400" dirty="0"/>
          </a:p>
        </p:txBody>
      </p:sp>
    </p:spTree>
    <p:extLst>
      <p:ext uri="{BB962C8B-B14F-4D97-AF65-F5344CB8AC3E}">
        <p14:creationId xmlns:p14="http://schemas.microsoft.com/office/powerpoint/2010/main" val="3414474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CBD0-DDF6-A422-A9B6-850D90E728FD}"/>
              </a:ext>
            </a:extLst>
          </p:cNvPr>
          <p:cNvSpPr>
            <a:spLocks noGrp="1"/>
          </p:cNvSpPr>
          <p:nvPr>
            <p:ph type="title"/>
          </p:nvPr>
        </p:nvSpPr>
        <p:spPr>
          <a:xfrm>
            <a:off x="1161288" y="808056"/>
            <a:ext cx="9408851" cy="1077229"/>
          </a:xfrm>
        </p:spPr>
        <p:txBody>
          <a:bodyPr/>
          <a:lstStyle/>
          <a:p>
            <a:pPr algn="l"/>
            <a:r>
              <a:rPr lang="en-IN" sz="3600" b="1" dirty="0"/>
              <a:t>Research Questions / Objectives </a:t>
            </a:r>
            <a:br>
              <a:rPr lang="en-IN" sz="3600" b="1" dirty="0"/>
            </a:br>
            <a:endParaRPr lang="en-IN" dirty="0"/>
          </a:p>
        </p:txBody>
      </p:sp>
      <p:sp>
        <p:nvSpPr>
          <p:cNvPr id="3" name="Content Placeholder 2">
            <a:extLst>
              <a:ext uri="{FF2B5EF4-FFF2-40B4-BE49-F238E27FC236}">
                <a16:creationId xmlns:a16="http://schemas.microsoft.com/office/drawing/2014/main" id="{DA2D2730-25AC-860F-4E9D-5CA155F1E61F}"/>
              </a:ext>
            </a:extLst>
          </p:cNvPr>
          <p:cNvSpPr>
            <a:spLocks noGrp="1"/>
          </p:cNvSpPr>
          <p:nvPr>
            <p:ph idx="1"/>
          </p:nvPr>
        </p:nvSpPr>
        <p:spPr>
          <a:xfrm>
            <a:off x="1161288" y="1591056"/>
            <a:ext cx="9408851" cy="4458888"/>
          </a:xfrm>
        </p:spPr>
        <p:txBody>
          <a:bodyPr>
            <a:normAutofit fontScale="25000" lnSpcReduction="20000"/>
          </a:bodyPr>
          <a:lstStyle/>
          <a:p>
            <a:pPr marL="0" indent="0">
              <a:buNone/>
            </a:pPr>
            <a:r>
              <a:rPr lang="en-US" b="1" dirty="0"/>
              <a:t>   </a:t>
            </a:r>
          </a:p>
          <a:p>
            <a:pPr>
              <a:buFont typeface="Arial" panose="020B0604020202020204" pitchFamily="34" charset="0"/>
              <a:buChar char="•"/>
            </a:pPr>
            <a:r>
              <a:rPr lang="en-US" sz="7200" b="1" dirty="0"/>
              <a:t>Purpose:</a:t>
            </a:r>
            <a:r>
              <a:rPr lang="en-US" sz="7200" dirty="0"/>
              <a:t> To predict whether a customer defaults on a loan and analyze </a:t>
            </a:r>
          </a:p>
          <a:p>
            <a:pPr>
              <a:buFont typeface="Arial" panose="020B0604020202020204" pitchFamily="34" charset="0"/>
              <a:buChar char="•"/>
            </a:pPr>
            <a:r>
              <a:rPr lang="en-US" sz="7200" dirty="0"/>
              <a:t>patterns in approval data in the Banking/Finance domain.</a:t>
            </a:r>
          </a:p>
          <a:p>
            <a:endParaRPr lang="en-US" sz="7200" dirty="0"/>
          </a:p>
          <a:p>
            <a:r>
              <a:rPr lang="en-US" sz="7200" b="1" dirty="0"/>
              <a:t>Possible Questions:</a:t>
            </a:r>
            <a:endParaRPr lang="en-US" sz="7200" dirty="0"/>
          </a:p>
          <a:p>
            <a:pPr marL="342900" indent="-342900">
              <a:buFont typeface="Arial" panose="020B0604020202020204" pitchFamily="34" charset="0"/>
              <a:buChar char="•"/>
            </a:pPr>
            <a:r>
              <a:rPr lang="en-US" sz="7200" dirty="0"/>
              <a:t>How does loan approval vary with credit score, income, or loan amount?</a:t>
            </a:r>
          </a:p>
          <a:p>
            <a:pPr marL="342900" indent="-342900">
              <a:buFont typeface="Arial" panose="020B0604020202020204" pitchFamily="34" charset="0"/>
              <a:buChar char="•"/>
            </a:pPr>
            <a:r>
              <a:rPr lang="en-US" sz="7200" dirty="0"/>
              <a:t>Does gender, marital status, or education level impact loan approval?</a:t>
            </a:r>
          </a:p>
          <a:p>
            <a:pPr marL="342900" indent="-342900">
              <a:buFont typeface="Arial" panose="020B0604020202020204" pitchFamily="34" charset="0"/>
              <a:buChar char="•"/>
            </a:pPr>
            <a:r>
              <a:rPr lang="en-US" sz="7200" dirty="0"/>
              <a:t>Are business loans approved more often than personal loans?</a:t>
            </a:r>
          </a:p>
          <a:p>
            <a:pPr marL="342900" indent="-342900">
              <a:buFont typeface="Arial" panose="020B0604020202020204" pitchFamily="34" charset="0"/>
              <a:buChar char="•"/>
            </a:pPr>
            <a:r>
              <a:rPr lang="en-US" sz="7200" dirty="0"/>
              <a:t>How does credit score distribution look for approved vs rejected loans?</a:t>
            </a:r>
          </a:p>
          <a:p>
            <a:endParaRPr lang="en-IN" dirty="0"/>
          </a:p>
        </p:txBody>
      </p:sp>
    </p:spTree>
    <p:extLst>
      <p:ext uri="{BB962C8B-B14F-4D97-AF65-F5344CB8AC3E}">
        <p14:creationId xmlns:p14="http://schemas.microsoft.com/office/powerpoint/2010/main" val="3985966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76A4568-DFE0-7FB0-9DA6-0E1ECCA198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8563" y="1045317"/>
            <a:ext cx="9983787" cy="4602266"/>
          </a:xfrm>
        </p:spPr>
      </p:pic>
    </p:spTree>
    <p:extLst>
      <p:ext uri="{BB962C8B-B14F-4D97-AF65-F5344CB8AC3E}">
        <p14:creationId xmlns:p14="http://schemas.microsoft.com/office/powerpoint/2010/main" val="1369831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6ACF8-422E-C1CD-F217-EE1DCC1D1232}"/>
              </a:ext>
            </a:extLst>
          </p:cNvPr>
          <p:cNvSpPr>
            <a:spLocks noGrp="1"/>
          </p:cNvSpPr>
          <p:nvPr>
            <p:ph type="title"/>
          </p:nvPr>
        </p:nvSpPr>
        <p:spPr>
          <a:xfrm>
            <a:off x="1335023" y="469728"/>
            <a:ext cx="9308267" cy="1077229"/>
          </a:xfrm>
        </p:spPr>
        <p:txBody>
          <a:bodyPr/>
          <a:lstStyle/>
          <a:p>
            <a:pPr algn="l"/>
            <a:r>
              <a:rPr lang="en-IN" sz="3600" b="1" dirty="0"/>
              <a:t>Data Preparation (SQL + Cleaning)</a:t>
            </a:r>
            <a:br>
              <a:rPr lang="en-IN" sz="3600" b="1" dirty="0"/>
            </a:br>
            <a:endParaRPr lang="en-IN" dirty="0"/>
          </a:p>
        </p:txBody>
      </p:sp>
      <p:sp>
        <p:nvSpPr>
          <p:cNvPr id="3" name="Content Placeholder 2">
            <a:extLst>
              <a:ext uri="{FF2B5EF4-FFF2-40B4-BE49-F238E27FC236}">
                <a16:creationId xmlns:a16="http://schemas.microsoft.com/office/drawing/2014/main" id="{533A4867-143C-8266-9978-674E6209D3C8}"/>
              </a:ext>
            </a:extLst>
          </p:cNvPr>
          <p:cNvSpPr>
            <a:spLocks noGrp="1"/>
          </p:cNvSpPr>
          <p:nvPr>
            <p:ph idx="1"/>
          </p:nvPr>
        </p:nvSpPr>
        <p:spPr>
          <a:xfrm>
            <a:off x="1261871" y="1188720"/>
            <a:ext cx="9372276" cy="3529584"/>
          </a:xfrm>
        </p:spPr>
        <p:txBody>
          <a:bodyPr>
            <a:normAutofit/>
          </a:bodyPr>
          <a:lstStyle/>
          <a:p>
            <a:endParaRPr lang="en-IN" sz="1600" b="1" dirty="0"/>
          </a:p>
          <a:p>
            <a:r>
              <a:rPr lang="en-IN" sz="1600" b="1" dirty="0"/>
              <a:t>Purpose: </a:t>
            </a:r>
            <a:r>
              <a:rPr lang="en-IN" sz="1600" dirty="0"/>
              <a:t>This query analyzes loan  distribution by income levels, grouping data and counting loans in each category to identify trends.</a:t>
            </a:r>
          </a:p>
          <a:p>
            <a:r>
              <a:rPr lang="en-US" sz="1600" b="1" dirty="0"/>
              <a:t>Include:</a:t>
            </a:r>
            <a:endParaRPr lang="en-US" sz="1600" dirty="0"/>
          </a:p>
          <a:p>
            <a:pPr marL="342900" indent="-342900">
              <a:buFont typeface="Arial" panose="020B0604020202020204" pitchFamily="34" charset="0"/>
              <a:buChar char="•"/>
            </a:pPr>
            <a:r>
              <a:rPr lang="en-US" sz="1600" dirty="0"/>
              <a:t>SQL Query to group data by income.</a:t>
            </a:r>
          </a:p>
          <a:p>
            <a:pPr marL="342900" indent="-342900">
              <a:buFont typeface="Arial" panose="020B0604020202020204" pitchFamily="34" charset="0"/>
              <a:buChar char="•"/>
            </a:pPr>
            <a:r>
              <a:rPr lang="en-US" sz="1600" dirty="0"/>
              <a:t>Count of loans (loan count) per income level.</a:t>
            </a:r>
          </a:p>
          <a:p>
            <a:pPr marL="342900" indent="-342900">
              <a:buFont typeface="Arial" panose="020B0604020202020204" pitchFamily="34" charset="0"/>
              <a:buChar char="•"/>
            </a:pPr>
            <a:r>
              <a:rPr lang="en-US" sz="1600" dirty="0"/>
              <a:t>Results ordered by loan count in descending order</a:t>
            </a:r>
          </a:p>
          <a:p>
            <a:pPr marL="0" indent="0">
              <a:buNone/>
            </a:pPr>
            <a:endParaRPr lang="en-US" dirty="0"/>
          </a:p>
          <a:p>
            <a:endParaRPr lang="en-IN" dirty="0"/>
          </a:p>
        </p:txBody>
      </p:sp>
      <p:pic>
        <p:nvPicPr>
          <p:cNvPr id="5" name="Picture 4">
            <a:extLst>
              <a:ext uri="{FF2B5EF4-FFF2-40B4-BE49-F238E27FC236}">
                <a16:creationId xmlns:a16="http://schemas.microsoft.com/office/drawing/2014/main" id="{3A26EB5D-217C-8EA5-49A4-B60ECE8A4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968" y="4078224"/>
            <a:ext cx="7802064" cy="2542032"/>
          </a:xfrm>
          <a:prstGeom prst="rect">
            <a:avLst/>
          </a:prstGeom>
        </p:spPr>
      </p:pic>
    </p:spTree>
    <p:extLst>
      <p:ext uri="{BB962C8B-B14F-4D97-AF65-F5344CB8AC3E}">
        <p14:creationId xmlns:p14="http://schemas.microsoft.com/office/powerpoint/2010/main" val="57857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63B7F-A0B0-8028-E707-A08004990382}"/>
              </a:ext>
            </a:extLst>
          </p:cNvPr>
          <p:cNvSpPr>
            <a:spLocks noGrp="1"/>
          </p:cNvSpPr>
          <p:nvPr>
            <p:ph type="title"/>
          </p:nvPr>
        </p:nvSpPr>
        <p:spPr>
          <a:xfrm>
            <a:off x="1295072" y="360000"/>
            <a:ext cx="7958331" cy="1077229"/>
          </a:xfrm>
        </p:spPr>
        <p:txBody>
          <a:bodyPr>
            <a:normAutofit fontScale="90000"/>
          </a:bodyPr>
          <a:lstStyle/>
          <a:p>
            <a:pPr algn="l"/>
            <a:r>
              <a:rPr lang="en-IN" sz="4400" b="1" dirty="0"/>
              <a:t>Descriptive Statistics</a:t>
            </a:r>
            <a:br>
              <a:rPr lang="en-IN" sz="4400" b="1" dirty="0"/>
            </a:br>
            <a:endParaRPr lang="en-IN" dirty="0"/>
          </a:p>
        </p:txBody>
      </p:sp>
      <p:sp>
        <p:nvSpPr>
          <p:cNvPr id="3" name="Content Placeholder 2">
            <a:extLst>
              <a:ext uri="{FF2B5EF4-FFF2-40B4-BE49-F238E27FC236}">
                <a16:creationId xmlns:a16="http://schemas.microsoft.com/office/drawing/2014/main" id="{88635D94-A5E6-5F5E-9FC5-3AEF8A8942FB}"/>
              </a:ext>
            </a:extLst>
          </p:cNvPr>
          <p:cNvSpPr>
            <a:spLocks noGrp="1"/>
          </p:cNvSpPr>
          <p:nvPr>
            <p:ph idx="1"/>
          </p:nvPr>
        </p:nvSpPr>
        <p:spPr>
          <a:xfrm>
            <a:off x="1295072" y="466344"/>
            <a:ext cx="9275067" cy="5961888"/>
          </a:xfrm>
        </p:spPr>
        <p:txBody>
          <a:bodyPr/>
          <a:lstStyle/>
          <a:p>
            <a:pPr marL="342900" indent="-342900">
              <a:buFont typeface="Arial" panose="020B0604020202020204" pitchFamily="34" charset="0"/>
              <a:buChar char="•"/>
            </a:pPr>
            <a:r>
              <a:rPr lang="en-US" sz="1600" b="1" dirty="0"/>
              <a:t>Purpose:</a:t>
            </a:r>
            <a:r>
              <a:rPr lang="en-US" sz="1600" dirty="0"/>
              <a:t> Present summary findings.</a:t>
            </a:r>
          </a:p>
          <a:p>
            <a:pPr marL="342900" indent="-342900">
              <a:buFont typeface="Arial" panose="020B0604020202020204" pitchFamily="34" charset="0"/>
              <a:buChar char="•"/>
            </a:pPr>
            <a:r>
              <a:rPr lang="en-US" sz="1600" b="1" dirty="0"/>
              <a:t>Include:</a:t>
            </a:r>
            <a:endParaRPr lang="en-US" sz="1600" dirty="0"/>
          </a:p>
          <a:p>
            <a:pPr marL="342900" indent="-342900">
              <a:buFont typeface="Arial" panose="020B0604020202020204" pitchFamily="34" charset="0"/>
              <a:buChar char="•"/>
            </a:pPr>
            <a:r>
              <a:rPr lang="en-US" sz="1600" dirty="0"/>
              <a:t>Count, mean, median, std of income and loan approved</a:t>
            </a:r>
          </a:p>
          <a:p>
            <a:pPr marL="342900" indent="-342900">
              <a:buFont typeface="Arial" panose="020B0604020202020204" pitchFamily="34" charset="0"/>
              <a:buChar char="•"/>
            </a:pPr>
            <a:r>
              <a:rPr lang="en-US" sz="1600" dirty="0"/>
              <a:t>Highlight interesting points:</a:t>
            </a:r>
          </a:p>
          <a:p>
            <a:pPr marL="800100" lvl="1" indent="-342900">
              <a:buFont typeface="Arial" panose="020B0604020202020204" pitchFamily="34" charset="0"/>
              <a:buChar char="•"/>
            </a:pPr>
            <a:r>
              <a:rPr lang="en-US" sz="1600" dirty="0"/>
              <a:t>Average income : 31,943</a:t>
            </a:r>
          </a:p>
          <a:p>
            <a:pPr marL="800100" lvl="1" indent="-342900">
              <a:buFont typeface="Arial" panose="020B0604020202020204" pitchFamily="34" charset="0"/>
              <a:buChar char="•"/>
            </a:pPr>
            <a:r>
              <a:rPr lang="en-US" sz="1600" dirty="0"/>
              <a:t>Loan Approval Rate : 46.3%</a:t>
            </a:r>
          </a:p>
          <a:p>
            <a:pPr marL="800100" lvl="1" indent="-342900">
              <a:buFont typeface="Arial" panose="020B0604020202020204" pitchFamily="34" charset="0"/>
              <a:buChar char="•"/>
            </a:pPr>
            <a:r>
              <a:rPr lang="en-IN" sz="1600" dirty="0"/>
              <a:t>Income range : 4,000 – 100,000</a:t>
            </a:r>
          </a:p>
          <a:p>
            <a:endParaRPr lang="en-IN" dirty="0"/>
          </a:p>
        </p:txBody>
      </p:sp>
      <p:pic>
        <p:nvPicPr>
          <p:cNvPr id="4" name="Picture 3">
            <a:extLst>
              <a:ext uri="{FF2B5EF4-FFF2-40B4-BE49-F238E27FC236}">
                <a16:creationId xmlns:a16="http://schemas.microsoft.com/office/drawing/2014/main" id="{A0B25D3C-8C9D-C918-CAB7-50F7CA1F0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9129" y="3301716"/>
            <a:ext cx="3575304" cy="2943636"/>
          </a:xfrm>
          <a:prstGeom prst="rect">
            <a:avLst/>
          </a:prstGeom>
        </p:spPr>
      </p:pic>
    </p:spTree>
    <p:extLst>
      <p:ext uri="{BB962C8B-B14F-4D97-AF65-F5344CB8AC3E}">
        <p14:creationId xmlns:p14="http://schemas.microsoft.com/office/powerpoint/2010/main" val="395030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D88E-FF70-5B0F-64B2-B35740C25FCC}"/>
              </a:ext>
            </a:extLst>
          </p:cNvPr>
          <p:cNvSpPr>
            <a:spLocks noGrp="1"/>
          </p:cNvSpPr>
          <p:nvPr>
            <p:ph type="title"/>
          </p:nvPr>
        </p:nvSpPr>
        <p:spPr>
          <a:xfrm>
            <a:off x="1399032" y="73152"/>
            <a:ext cx="7958331" cy="1077229"/>
          </a:xfrm>
        </p:spPr>
        <p:txBody>
          <a:bodyPr/>
          <a:lstStyle/>
          <a:p>
            <a:pPr algn="l"/>
            <a:r>
              <a:rPr lang="en-IN" sz="3600" b="1" dirty="0"/>
              <a:t>Inferential Statistics</a:t>
            </a:r>
            <a:br>
              <a:rPr lang="en-IN" sz="3600" b="1" dirty="0"/>
            </a:br>
            <a:endParaRPr lang="en-IN" dirty="0"/>
          </a:p>
        </p:txBody>
      </p:sp>
      <p:sp>
        <p:nvSpPr>
          <p:cNvPr id="3" name="Content Placeholder 2">
            <a:extLst>
              <a:ext uri="{FF2B5EF4-FFF2-40B4-BE49-F238E27FC236}">
                <a16:creationId xmlns:a16="http://schemas.microsoft.com/office/drawing/2014/main" id="{BF9FE1FD-6A9C-4BE1-9AAA-9703111BCDD4}"/>
              </a:ext>
            </a:extLst>
          </p:cNvPr>
          <p:cNvSpPr>
            <a:spLocks noGrp="1"/>
          </p:cNvSpPr>
          <p:nvPr>
            <p:ph idx="1"/>
          </p:nvPr>
        </p:nvSpPr>
        <p:spPr>
          <a:xfrm>
            <a:off x="1399032" y="-338328"/>
            <a:ext cx="9171107" cy="5230368"/>
          </a:xfrm>
        </p:spPr>
        <p:txBody>
          <a:bodyPr/>
          <a:lstStyle/>
          <a:p>
            <a:r>
              <a:rPr lang="en-US" b="1" dirty="0"/>
              <a:t>Purpose:</a:t>
            </a:r>
            <a:r>
              <a:rPr lang="en-US" dirty="0"/>
              <a:t> Present hypothesis testing results.</a:t>
            </a:r>
          </a:p>
          <a:p>
            <a:r>
              <a:rPr lang="en-US" b="1" dirty="0"/>
              <a:t>Example:</a:t>
            </a:r>
            <a:endParaRPr lang="en-US" dirty="0"/>
          </a:p>
          <a:p>
            <a:r>
              <a:rPr lang="en-US" b="1" dirty="0"/>
              <a:t>Hypothesis:</a:t>
            </a:r>
            <a:r>
              <a:rPr lang="en-US" dirty="0"/>
              <a:t> Testing the association between loan status and martial status.            </a:t>
            </a:r>
          </a:p>
          <a:p>
            <a:r>
              <a:rPr lang="en-US" b="1" dirty="0"/>
              <a:t>Method:</a:t>
            </a:r>
            <a:r>
              <a:rPr lang="en-US" dirty="0"/>
              <a:t> Chi-square test</a:t>
            </a:r>
          </a:p>
          <a:p>
            <a:r>
              <a:rPr lang="en-US" b="1" dirty="0"/>
              <a:t>Result:</a:t>
            </a:r>
            <a:r>
              <a:rPr lang="en-US" dirty="0"/>
              <a:t> p-value = 0.49 (&lt; 0.05) → No statistically significant</a:t>
            </a:r>
          </a:p>
          <a:p>
            <a:endParaRPr lang="en-IN" dirty="0"/>
          </a:p>
        </p:txBody>
      </p:sp>
      <p:pic>
        <p:nvPicPr>
          <p:cNvPr id="4" name="Picture 3">
            <a:extLst>
              <a:ext uri="{FF2B5EF4-FFF2-40B4-BE49-F238E27FC236}">
                <a16:creationId xmlns:a16="http://schemas.microsoft.com/office/drawing/2014/main" id="{AE4E000F-7DCE-B43D-9B6D-04ADB6ADE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032" y="3429000"/>
            <a:ext cx="9537192" cy="3355848"/>
          </a:xfrm>
          <a:prstGeom prst="rect">
            <a:avLst/>
          </a:prstGeom>
        </p:spPr>
      </p:pic>
    </p:spTree>
    <p:extLst>
      <p:ext uri="{BB962C8B-B14F-4D97-AF65-F5344CB8AC3E}">
        <p14:creationId xmlns:p14="http://schemas.microsoft.com/office/powerpoint/2010/main" val="2821085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52CC3-CAD7-FA9C-4695-FE9C74CB5AC8}"/>
              </a:ext>
            </a:extLst>
          </p:cNvPr>
          <p:cNvSpPr>
            <a:spLocks noGrp="1"/>
          </p:cNvSpPr>
          <p:nvPr>
            <p:ph type="title"/>
          </p:nvPr>
        </p:nvSpPr>
        <p:spPr>
          <a:xfrm>
            <a:off x="2648384" y="2719152"/>
            <a:ext cx="7958331" cy="1077229"/>
          </a:xfrm>
        </p:spPr>
        <p:txBody>
          <a:bodyPr/>
          <a:lstStyle/>
          <a:p>
            <a:pPr algn="l"/>
            <a:r>
              <a:rPr lang="en-US" dirty="0"/>
              <a:t>Exploratory Data Analysis (EDA)</a:t>
            </a:r>
            <a:endParaRPr lang="en-IN" dirty="0"/>
          </a:p>
        </p:txBody>
      </p:sp>
    </p:spTree>
    <p:extLst>
      <p:ext uri="{BB962C8B-B14F-4D97-AF65-F5344CB8AC3E}">
        <p14:creationId xmlns:p14="http://schemas.microsoft.com/office/powerpoint/2010/main" val="3140352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54FD-16E5-945E-B38E-E7D8CEB31BA4}"/>
              </a:ext>
            </a:extLst>
          </p:cNvPr>
          <p:cNvSpPr>
            <a:spLocks noGrp="1"/>
          </p:cNvSpPr>
          <p:nvPr>
            <p:ph type="title"/>
          </p:nvPr>
        </p:nvSpPr>
        <p:spPr>
          <a:xfrm>
            <a:off x="1207008" y="219456"/>
            <a:ext cx="8969939" cy="786385"/>
          </a:xfrm>
        </p:spPr>
        <p:txBody>
          <a:bodyPr>
            <a:normAutofit fontScale="90000"/>
          </a:bodyPr>
          <a:lstStyle/>
          <a:p>
            <a:pPr algn="l"/>
            <a:r>
              <a:rPr lang="en-IN" sz="4000" dirty="0"/>
              <a:t>Insights gained</a:t>
            </a:r>
            <a:br>
              <a:rPr lang="en-IN" dirty="0"/>
            </a:br>
            <a:br>
              <a:rPr lang="en-IN" dirty="0"/>
            </a:br>
            <a:r>
              <a:rPr lang="en-IN" dirty="0"/>
              <a:t>1</a:t>
            </a:r>
            <a:r>
              <a:rPr lang="en-IN" sz="3100" dirty="0"/>
              <a:t>. Distribution of Loan Approval</a:t>
            </a:r>
          </a:p>
        </p:txBody>
      </p:sp>
      <p:sp>
        <p:nvSpPr>
          <p:cNvPr id="3" name="Content Placeholder 2">
            <a:extLst>
              <a:ext uri="{FF2B5EF4-FFF2-40B4-BE49-F238E27FC236}">
                <a16:creationId xmlns:a16="http://schemas.microsoft.com/office/drawing/2014/main" id="{602B27BD-4B42-1E39-2701-FE1BC4EC0C7B}"/>
              </a:ext>
            </a:extLst>
          </p:cNvPr>
          <p:cNvSpPr>
            <a:spLocks noGrp="1"/>
          </p:cNvSpPr>
          <p:nvPr>
            <p:ph idx="1"/>
          </p:nvPr>
        </p:nvSpPr>
        <p:spPr>
          <a:xfrm>
            <a:off x="1124711" y="1252729"/>
            <a:ext cx="5541265" cy="4837175"/>
          </a:xfrm>
        </p:spPr>
        <p:txBody>
          <a:bodyPr>
            <a:normAutofit/>
          </a:bodyPr>
          <a:lstStyle/>
          <a:p>
            <a:r>
              <a:rPr lang="en-US" dirty="0"/>
              <a:t> </a:t>
            </a:r>
            <a:r>
              <a:rPr lang="en-US" b="1" dirty="0"/>
              <a:t>Countplot of Loan Approval Distribution</a:t>
            </a:r>
            <a:r>
              <a:rPr lang="en-US" sz="2400" b="1" dirty="0"/>
              <a:t>: </a:t>
            </a:r>
            <a:r>
              <a:rPr lang="en-US" dirty="0"/>
              <a:t>The countplot shows the distribution of loan approvals (0 and 1), indicating a relatively balanced count between approved and possibly not approved loans.</a:t>
            </a:r>
          </a:p>
          <a:p>
            <a:r>
              <a:rPr lang="en-IN" b="1" dirty="0"/>
              <a:t>Key Insights</a:t>
            </a:r>
          </a:p>
          <a:p>
            <a:r>
              <a:rPr lang="en-US" dirty="0"/>
              <a:t>The distribution suggests a balanced dataset in terms of loan approval outcomes.</a:t>
            </a:r>
            <a:endParaRPr lang="en-IN" dirty="0"/>
          </a:p>
        </p:txBody>
      </p:sp>
      <p:pic>
        <p:nvPicPr>
          <p:cNvPr id="5" name="Picture 4">
            <a:extLst>
              <a:ext uri="{FF2B5EF4-FFF2-40B4-BE49-F238E27FC236}">
                <a16:creationId xmlns:a16="http://schemas.microsoft.com/office/drawing/2014/main" id="{C806C15C-9F73-5EFC-5382-129A2FE02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3721" y="1252729"/>
            <a:ext cx="4343400" cy="3904488"/>
          </a:xfrm>
          <a:prstGeom prst="rect">
            <a:avLst/>
          </a:prstGeom>
        </p:spPr>
      </p:pic>
    </p:spTree>
    <p:extLst>
      <p:ext uri="{BB962C8B-B14F-4D97-AF65-F5344CB8AC3E}">
        <p14:creationId xmlns:p14="http://schemas.microsoft.com/office/powerpoint/2010/main" val="3304906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AD4F6A-7640-EC83-7EA9-57C2CCC28F8B}"/>
              </a:ext>
            </a:extLst>
          </p:cNvPr>
          <p:cNvSpPr>
            <a:spLocks noGrp="1"/>
          </p:cNvSpPr>
          <p:nvPr>
            <p:ph idx="1"/>
          </p:nvPr>
        </p:nvSpPr>
        <p:spPr>
          <a:xfrm>
            <a:off x="1133857" y="310896"/>
            <a:ext cx="6190488" cy="5784768"/>
          </a:xfrm>
        </p:spPr>
        <p:txBody>
          <a:bodyPr/>
          <a:lstStyle/>
          <a:p>
            <a:r>
              <a:rPr lang="en-US" b="1" dirty="0"/>
              <a:t>Barplot of Income vs Loan Approval Rate</a:t>
            </a:r>
            <a:r>
              <a:rPr lang="en-US" dirty="0"/>
              <a:t>: Loan approval rates are shown across different income bins. Approval rates seem somewhat consistent across income groups, with slight variations.</a:t>
            </a:r>
          </a:p>
          <a:p>
            <a:r>
              <a:rPr lang="en-US" b="1" dirty="0"/>
              <a:t>Key Insights</a:t>
            </a:r>
          </a:p>
          <a:p>
            <a:r>
              <a:rPr lang="en-US" dirty="0"/>
              <a:t>Approval rates are somewhat consistent across different income levels, suggesting income might not be a major differentiator in this dataset for loan approval.</a:t>
            </a:r>
          </a:p>
          <a:p>
            <a:endParaRPr lang="en-IN" dirty="0"/>
          </a:p>
        </p:txBody>
      </p:sp>
      <p:pic>
        <p:nvPicPr>
          <p:cNvPr id="4" name="Picture 3">
            <a:extLst>
              <a:ext uri="{FF2B5EF4-FFF2-40B4-BE49-F238E27FC236}">
                <a16:creationId xmlns:a16="http://schemas.microsoft.com/office/drawing/2014/main" id="{CE97FEA0-BAAF-0D68-6787-DC3C87A80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345" y="795528"/>
            <a:ext cx="3895343" cy="4059936"/>
          </a:xfrm>
          <a:prstGeom prst="rect">
            <a:avLst/>
          </a:prstGeom>
        </p:spPr>
      </p:pic>
    </p:spTree>
    <p:extLst>
      <p:ext uri="{BB962C8B-B14F-4D97-AF65-F5344CB8AC3E}">
        <p14:creationId xmlns:p14="http://schemas.microsoft.com/office/powerpoint/2010/main" val="946078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FF33C3-5496-A1B4-35F2-C1A8884DC3D2}"/>
              </a:ext>
            </a:extLst>
          </p:cNvPr>
          <p:cNvSpPr>
            <a:spLocks noGrp="1"/>
          </p:cNvSpPr>
          <p:nvPr>
            <p:ph idx="1"/>
          </p:nvPr>
        </p:nvSpPr>
        <p:spPr>
          <a:xfrm>
            <a:off x="1173399" y="515924"/>
            <a:ext cx="5364561" cy="3997828"/>
          </a:xfrm>
        </p:spPr>
        <p:txBody>
          <a:bodyPr>
            <a:normAutofit lnSpcReduction="10000"/>
          </a:bodyPr>
          <a:lstStyle/>
          <a:p>
            <a:r>
              <a:rPr lang="en-US" b="1" dirty="0"/>
              <a:t>Pie Chart of Loan Approval by Gender</a:t>
            </a:r>
            <a:r>
              <a:rPr lang="en-US" dirty="0"/>
              <a:t>: Loan approvals are split between males (50.8%) and females (49.2%), indicating a slight edge in approval percentage for males.</a:t>
            </a:r>
          </a:p>
          <a:p>
            <a:r>
              <a:rPr lang="en-US" b="1" dirty="0"/>
              <a:t>Key Insights</a:t>
            </a:r>
          </a:p>
          <a:p>
            <a:r>
              <a:rPr lang="en-US" dirty="0"/>
              <a:t>Approval rates are somewhat consistent across different income levels, suggesting income might not be a major differentiator in this dataset for loan approval.</a:t>
            </a:r>
            <a:endParaRPr lang="en-IN" dirty="0"/>
          </a:p>
        </p:txBody>
      </p:sp>
      <p:pic>
        <p:nvPicPr>
          <p:cNvPr id="6" name="Picture 5">
            <a:extLst>
              <a:ext uri="{FF2B5EF4-FFF2-40B4-BE49-F238E27FC236}">
                <a16:creationId xmlns:a16="http://schemas.microsoft.com/office/drawing/2014/main" id="{69200B13-9716-D473-C1E9-49D79B12E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3448" y="694944"/>
            <a:ext cx="3801372" cy="3818808"/>
          </a:xfrm>
          <a:prstGeom prst="rect">
            <a:avLst/>
          </a:prstGeom>
        </p:spPr>
      </p:pic>
    </p:spTree>
    <p:extLst>
      <p:ext uri="{BB962C8B-B14F-4D97-AF65-F5344CB8AC3E}">
        <p14:creationId xmlns:p14="http://schemas.microsoft.com/office/powerpoint/2010/main" val="987316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4455D-AD68-6E28-0268-369833704F4E}"/>
              </a:ext>
            </a:extLst>
          </p:cNvPr>
          <p:cNvSpPr>
            <a:spLocks noGrp="1"/>
          </p:cNvSpPr>
          <p:nvPr>
            <p:ph idx="1"/>
          </p:nvPr>
        </p:nvSpPr>
        <p:spPr>
          <a:xfrm>
            <a:off x="1124713" y="292608"/>
            <a:ext cx="5714999" cy="5757336"/>
          </a:xfrm>
        </p:spPr>
        <p:txBody>
          <a:bodyPr>
            <a:normAutofit fontScale="92500" lnSpcReduction="20000"/>
          </a:bodyPr>
          <a:lstStyle/>
          <a:p>
            <a:r>
              <a:rPr lang="en-IN" sz="2200" b="1" dirty="0"/>
              <a:t>Loan Approval by Region: </a:t>
            </a:r>
            <a:r>
              <a:rPr lang="en-US" dirty="0"/>
              <a:t>The bar chart shows loan approval counts for Urban and Rural regions. In both regions, there are counts for loans not approved (0, green) and approved (1, purple).-</a:t>
            </a:r>
          </a:p>
          <a:p>
            <a:r>
              <a:rPr lang="en-US" dirty="0"/>
              <a:t>In Urban regions, non-approved loans (green) are more than approved loans (purple).</a:t>
            </a:r>
          </a:p>
          <a:p>
            <a:r>
              <a:rPr lang="en-US" dirty="0"/>
              <a:t> In Rural regions, counts are lower overall compared to Urban, with non-approved loans (green) more than approved loans (purple).</a:t>
            </a:r>
          </a:p>
          <a:p>
            <a:r>
              <a:rPr lang="en-US" sz="2200" b="1" dirty="0"/>
              <a:t>Key Insights</a:t>
            </a:r>
          </a:p>
          <a:p>
            <a:r>
              <a:rPr lang="en-US" dirty="0"/>
              <a:t>Loan applications are more frequent in Urban regions compared to Rural.</a:t>
            </a:r>
          </a:p>
          <a:p>
            <a:r>
              <a:rPr lang="en-US" dirty="0"/>
              <a:t>Approval rates seem lower than non-approval rates in both regions.</a:t>
            </a:r>
            <a:endParaRPr lang="en-IN" dirty="0"/>
          </a:p>
        </p:txBody>
      </p:sp>
      <p:pic>
        <p:nvPicPr>
          <p:cNvPr id="4" name="Picture 3">
            <a:extLst>
              <a:ext uri="{FF2B5EF4-FFF2-40B4-BE49-F238E27FC236}">
                <a16:creationId xmlns:a16="http://schemas.microsoft.com/office/drawing/2014/main" id="{C5FB4EFC-24EC-F9D3-394D-589C8A512F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9712" y="969264"/>
            <a:ext cx="5138928" cy="4709160"/>
          </a:xfrm>
          <a:prstGeom prst="rect">
            <a:avLst/>
          </a:prstGeom>
        </p:spPr>
      </p:pic>
    </p:spTree>
    <p:extLst>
      <p:ext uri="{BB962C8B-B14F-4D97-AF65-F5344CB8AC3E}">
        <p14:creationId xmlns:p14="http://schemas.microsoft.com/office/powerpoint/2010/main" val="4075033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127589-85FE-BDC5-DCDA-DA6127BF9846}"/>
              </a:ext>
            </a:extLst>
          </p:cNvPr>
          <p:cNvSpPr>
            <a:spLocks noGrp="1"/>
          </p:cNvSpPr>
          <p:nvPr>
            <p:ph idx="1"/>
          </p:nvPr>
        </p:nvSpPr>
        <p:spPr>
          <a:xfrm>
            <a:off x="1200831" y="424484"/>
            <a:ext cx="5611449" cy="5482540"/>
          </a:xfrm>
        </p:spPr>
        <p:txBody>
          <a:bodyPr>
            <a:normAutofit fontScale="92500" lnSpcReduction="20000"/>
          </a:bodyPr>
          <a:lstStyle/>
          <a:p>
            <a:r>
              <a:rPr lang="en-IN" sz="2400" b="1" dirty="0"/>
              <a:t>Loan Approvals by Month</a:t>
            </a:r>
            <a:r>
              <a:rPr lang="en-IN" dirty="0"/>
              <a:t>: </a:t>
            </a:r>
            <a:r>
              <a:rPr lang="en-US" dirty="0"/>
              <a:t>The bar chart shows loan approvals by month (1 to 12).</a:t>
            </a:r>
          </a:p>
          <a:p>
            <a:r>
              <a:rPr lang="en-US" dirty="0"/>
              <a:t>Approvals vary across months, with some months having higher counts (e.g., months 3, 4, 10, 11).</a:t>
            </a:r>
          </a:p>
          <a:p>
            <a:r>
              <a:rPr lang="en-US" dirty="0"/>
              <a:t>Month 12 has one of the lower approval counts.</a:t>
            </a:r>
          </a:p>
          <a:p>
            <a:r>
              <a:rPr lang="en-US" sz="2400" b="1" dirty="0"/>
              <a:t>Key Insights</a:t>
            </a:r>
          </a:p>
          <a:p>
            <a:r>
              <a:rPr lang="en-US" dirty="0"/>
              <a:t>Loan approval counts fluctuate across months, suggesting potential seasonal patterns or varying demand.</a:t>
            </a:r>
          </a:p>
          <a:p>
            <a:r>
              <a:rPr lang="en-US" dirty="0"/>
              <a:t>Certain months see higher approval counts, possibly due to financial cycles or business needs.</a:t>
            </a:r>
            <a:endParaRPr lang="en-IN" dirty="0"/>
          </a:p>
        </p:txBody>
      </p:sp>
      <p:pic>
        <p:nvPicPr>
          <p:cNvPr id="4" name="Picture 3">
            <a:extLst>
              <a:ext uri="{FF2B5EF4-FFF2-40B4-BE49-F238E27FC236}">
                <a16:creationId xmlns:a16="http://schemas.microsoft.com/office/drawing/2014/main" id="{2FB1588E-79AE-2252-A2EF-1CBEA6AF9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2552" y="918254"/>
            <a:ext cx="5489448" cy="4820323"/>
          </a:xfrm>
          <a:prstGeom prst="rect">
            <a:avLst/>
          </a:prstGeom>
        </p:spPr>
      </p:pic>
    </p:spTree>
    <p:extLst>
      <p:ext uri="{BB962C8B-B14F-4D97-AF65-F5344CB8AC3E}">
        <p14:creationId xmlns:p14="http://schemas.microsoft.com/office/powerpoint/2010/main" val="671336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2B7DC-B8F0-2291-CEED-82531B5E0BE5}"/>
              </a:ext>
            </a:extLst>
          </p:cNvPr>
          <p:cNvSpPr>
            <a:spLocks noGrp="1"/>
          </p:cNvSpPr>
          <p:nvPr>
            <p:ph type="title"/>
          </p:nvPr>
        </p:nvSpPr>
        <p:spPr>
          <a:xfrm>
            <a:off x="1284527" y="290850"/>
            <a:ext cx="7958331" cy="1077229"/>
          </a:xfrm>
        </p:spPr>
        <p:txBody>
          <a:bodyPr/>
          <a:lstStyle/>
          <a:p>
            <a:pPr algn="l"/>
            <a:r>
              <a:rPr lang="en-IN" sz="3600" dirty="0"/>
              <a:t>Correlation &amp; Relationships </a:t>
            </a:r>
            <a:br>
              <a:rPr lang="en-US" sz="3600" b="1" dirty="0"/>
            </a:br>
            <a:endParaRPr lang="en-IN" dirty="0"/>
          </a:p>
        </p:txBody>
      </p:sp>
      <p:sp>
        <p:nvSpPr>
          <p:cNvPr id="3" name="Content Placeholder 2">
            <a:extLst>
              <a:ext uri="{FF2B5EF4-FFF2-40B4-BE49-F238E27FC236}">
                <a16:creationId xmlns:a16="http://schemas.microsoft.com/office/drawing/2014/main" id="{53556F50-3F7E-BF4E-8F29-A2A261E3FAC6}"/>
              </a:ext>
            </a:extLst>
          </p:cNvPr>
          <p:cNvSpPr>
            <a:spLocks noGrp="1"/>
          </p:cNvSpPr>
          <p:nvPr>
            <p:ph idx="1"/>
          </p:nvPr>
        </p:nvSpPr>
        <p:spPr>
          <a:xfrm>
            <a:off x="1284527" y="1430086"/>
            <a:ext cx="6186121" cy="3997828"/>
          </a:xfrm>
        </p:spPr>
        <p:txBody>
          <a:bodyPr/>
          <a:lstStyle/>
          <a:p>
            <a:r>
              <a:rPr lang="en-US" b="1" dirty="0"/>
              <a:t>Purpose:</a:t>
            </a:r>
            <a:r>
              <a:rPr lang="en-US" dirty="0"/>
              <a:t> Show relationships between key variables.</a:t>
            </a:r>
          </a:p>
          <a:p>
            <a:r>
              <a:rPr lang="en-US" b="1" dirty="0"/>
              <a:t>Include:</a:t>
            </a:r>
            <a:endParaRPr lang="en-US" dirty="0"/>
          </a:p>
          <a:p>
            <a:r>
              <a:rPr lang="en-US" dirty="0"/>
              <a:t>Scatter plot: Income vs Credit Score</a:t>
            </a:r>
          </a:p>
          <a:p>
            <a:r>
              <a:rPr lang="en-US" dirty="0"/>
              <a:t>Correlation heatmap of (Income, Credit Score)</a:t>
            </a:r>
          </a:p>
          <a:p>
            <a:r>
              <a:rPr lang="en-US" dirty="0"/>
              <a:t>Interpretation: strong positive correlation between Income and Credit Score (r = 1.0).</a:t>
            </a:r>
          </a:p>
          <a:p>
            <a:endParaRPr lang="en-US" dirty="0"/>
          </a:p>
          <a:p>
            <a:endParaRPr lang="en-IN" dirty="0"/>
          </a:p>
        </p:txBody>
      </p:sp>
      <p:pic>
        <p:nvPicPr>
          <p:cNvPr id="4" name="Picture 3">
            <a:extLst>
              <a:ext uri="{FF2B5EF4-FFF2-40B4-BE49-F238E27FC236}">
                <a16:creationId xmlns:a16="http://schemas.microsoft.com/office/drawing/2014/main" id="{5D395E1E-651D-ABCF-B001-8B11731DB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0648" y="1230818"/>
            <a:ext cx="4535424" cy="4197096"/>
          </a:xfrm>
          <a:prstGeom prst="rect">
            <a:avLst/>
          </a:prstGeom>
        </p:spPr>
      </p:pic>
    </p:spTree>
    <p:extLst>
      <p:ext uri="{BB962C8B-B14F-4D97-AF65-F5344CB8AC3E}">
        <p14:creationId xmlns:p14="http://schemas.microsoft.com/office/powerpoint/2010/main" val="4027100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6E51E1-3325-BE94-2C3E-1EF787C45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553" y="118872"/>
            <a:ext cx="8232893" cy="6647688"/>
          </a:xfrm>
          <a:prstGeom prst="rect">
            <a:avLst/>
          </a:prstGeom>
        </p:spPr>
      </p:pic>
    </p:spTree>
    <p:extLst>
      <p:ext uri="{BB962C8B-B14F-4D97-AF65-F5344CB8AC3E}">
        <p14:creationId xmlns:p14="http://schemas.microsoft.com/office/powerpoint/2010/main" val="993545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EED87-34CA-3AA7-605F-44C349471190}"/>
              </a:ext>
            </a:extLst>
          </p:cNvPr>
          <p:cNvSpPr>
            <a:spLocks noGrp="1"/>
          </p:cNvSpPr>
          <p:nvPr>
            <p:ph type="title"/>
          </p:nvPr>
        </p:nvSpPr>
        <p:spPr>
          <a:xfrm>
            <a:off x="1221920" y="506304"/>
            <a:ext cx="7958331" cy="1077229"/>
          </a:xfrm>
        </p:spPr>
        <p:txBody>
          <a:bodyPr/>
          <a:lstStyle/>
          <a:p>
            <a:pPr algn="l"/>
            <a:r>
              <a:rPr lang="en-IN" dirty="0"/>
              <a:t>Visualization of Box Plot</a:t>
            </a:r>
          </a:p>
        </p:txBody>
      </p:sp>
      <p:sp>
        <p:nvSpPr>
          <p:cNvPr id="6" name="Content Placeholder 5">
            <a:extLst>
              <a:ext uri="{FF2B5EF4-FFF2-40B4-BE49-F238E27FC236}">
                <a16:creationId xmlns:a16="http://schemas.microsoft.com/office/drawing/2014/main" id="{0D7FCF2D-77EF-D563-84BA-D42DEB0B4794}"/>
              </a:ext>
            </a:extLst>
          </p:cNvPr>
          <p:cNvSpPr>
            <a:spLocks noGrp="1"/>
          </p:cNvSpPr>
          <p:nvPr>
            <p:ph idx="1"/>
          </p:nvPr>
        </p:nvSpPr>
        <p:spPr>
          <a:xfrm>
            <a:off x="1353312" y="1252728"/>
            <a:ext cx="5724143" cy="4797216"/>
          </a:xfrm>
        </p:spPr>
        <p:txBody>
          <a:bodyPr/>
          <a:lstStyle/>
          <a:p>
            <a:r>
              <a:rPr lang="en-US" b="1" dirty="0"/>
              <a:t>Boxplot of loan amount by education level</a:t>
            </a:r>
            <a:r>
              <a:rPr lang="en-US" dirty="0"/>
              <a:t>: Loan amounts are distributed similarly across education levels (Postgraduate, Graduate, High School, Other). Some outliers have higher loan amounts.</a:t>
            </a:r>
          </a:p>
          <a:p>
            <a:r>
              <a:rPr lang="en-US" dirty="0"/>
              <a:t> </a:t>
            </a:r>
            <a:r>
              <a:rPr lang="en-US" b="1" dirty="0"/>
              <a:t>Key Insights</a:t>
            </a:r>
          </a:p>
          <a:p>
            <a:r>
              <a:rPr lang="en-US" dirty="0"/>
              <a:t> Education level doesn't seem to strongly impact loan amounts.</a:t>
            </a:r>
          </a:p>
          <a:p>
            <a:r>
              <a:rPr lang="en-US" dirty="0"/>
              <a:t>Outliers indicate some applicants get larger loans.</a:t>
            </a:r>
            <a:endParaRPr lang="en-IN" dirty="0"/>
          </a:p>
        </p:txBody>
      </p:sp>
      <p:pic>
        <p:nvPicPr>
          <p:cNvPr id="7" name="Picture 6">
            <a:extLst>
              <a:ext uri="{FF2B5EF4-FFF2-40B4-BE49-F238E27FC236}">
                <a16:creationId xmlns:a16="http://schemas.microsoft.com/office/drawing/2014/main" id="{732C999A-5520-800F-9859-C1906F7338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8847" y="1583533"/>
            <a:ext cx="4809744" cy="4105656"/>
          </a:xfrm>
          <a:prstGeom prst="rect">
            <a:avLst/>
          </a:prstGeom>
        </p:spPr>
      </p:pic>
    </p:spTree>
    <p:extLst>
      <p:ext uri="{BB962C8B-B14F-4D97-AF65-F5344CB8AC3E}">
        <p14:creationId xmlns:p14="http://schemas.microsoft.com/office/powerpoint/2010/main" val="3696551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1D7650-5635-CE36-9D37-63F2CCEBDE97}"/>
              </a:ext>
            </a:extLst>
          </p:cNvPr>
          <p:cNvSpPr>
            <a:spLocks noGrp="1"/>
          </p:cNvSpPr>
          <p:nvPr>
            <p:ph idx="1"/>
          </p:nvPr>
        </p:nvSpPr>
        <p:spPr>
          <a:xfrm>
            <a:off x="1118535" y="365760"/>
            <a:ext cx="5977209" cy="3997828"/>
          </a:xfrm>
        </p:spPr>
        <p:txBody>
          <a:bodyPr/>
          <a:lstStyle/>
          <a:p>
            <a:r>
              <a:rPr lang="en-US" b="1" dirty="0"/>
              <a:t>Loan Term vs Loan Amount</a:t>
            </a:r>
            <a:r>
              <a:rPr lang="en-US" dirty="0"/>
              <a:t>: Loans with a 60-month term have higher amounts compared to 36-month terms. </a:t>
            </a:r>
          </a:p>
          <a:p>
            <a:r>
              <a:rPr lang="en-US" b="1" dirty="0"/>
              <a:t>Key Insights</a:t>
            </a:r>
          </a:p>
          <a:p>
            <a:r>
              <a:rPr lang="en-US" dirty="0"/>
              <a:t>Longer loan terms are associated with higher loan amounts.</a:t>
            </a:r>
          </a:p>
          <a:p>
            <a:r>
              <a:rPr lang="en-US" dirty="0"/>
              <a:t> Median loan amount is higher for 60-month terms.</a:t>
            </a:r>
            <a:endParaRPr lang="en-IN" dirty="0"/>
          </a:p>
        </p:txBody>
      </p:sp>
      <p:pic>
        <p:nvPicPr>
          <p:cNvPr id="4" name="Picture 3">
            <a:extLst>
              <a:ext uri="{FF2B5EF4-FFF2-40B4-BE49-F238E27FC236}">
                <a16:creationId xmlns:a16="http://schemas.microsoft.com/office/drawing/2014/main" id="{6D48D301-717E-DBB8-14F1-4C137562E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3761" y="950976"/>
            <a:ext cx="4809744" cy="4178808"/>
          </a:xfrm>
          <a:prstGeom prst="rect">
            <a:avLst/>
          </a:prstGeom>
        </p:spPr>
      </p:pic>
    </p:spTree>
    <p:extLst>
      <p:ext uri="{BB962C8B-B14F-4D97-AF65-F5344CB8AC3E}">
        <p14:creationId xmlns:p14="http://schemas.microsoft.com/office/powerpoint/2010/main" val="3617282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76C112-80AF-7961-6E61-4F859A2BF57C}"/>
              </a:ext>
            </a:extLst>
          </p:cNvPr>
          <p:cNvSpPr>
            <a:spLocks noGrp="1"/>
          </p:cNvSpPr>
          <p:nvPr>
            <p:ph idx="1"/>
          </p:nvPr>
        </p:nvSpPr>
        <p:spPr>
          <a:xfrm>
            <a:off x="1118535" y="534212"/>
            <a:ext cx="6013785" cy="3997828"/>
          </a:xfrm>
        </p:spPr>
        <p:txBody>
          <a:bodyPr>
            <a:normAutofit fontScale="92500"/>
          </a:bodyPr>
          <a:lstStyle/>
          <a:p>
            <a:pPr marL="0" indent="0">
              <a:buNone/>
            </a:pPr>
            <a:r>
              <a:rPr lang="en-US" sz="2600" b="1" dirty="0"/>
              <a:t>Visualization of Hist Plot</a:t>
            </a:r>
          </a:p>
          <a:p>
            <a:r>
              <a:rPr lang="en-US" b="1" dirty="0"/>
              <a:t>Histogram of Distribution of Loan Amounts</a:t>
            </a:r>
            <a:r>
              <a:rPr lang="en-US" dirty="0"/>
              <a:t>: Most loans are for lower amounts (peaking at the lowest bin).</a:t>
            </a:r>
          </a:p>
          <a:p>
            <a:r>
              <a:rPr lang="en-US" dirty="0"/>
              <a:t> Frequency decreases as loan amount increases.</a:t>
            </a:r>
          </a:p>
          <a:p>
            <a:r>
              <a:rPr lang="en-US" dirty="0"/>
              <a:t> </a:t>
            </a:r>
            <a:r>
              <a:rPr lang="en-US" b="1" dirty="0"/>
              <a:t>Key Insights</a:t>
            </a:r>
          </a:p>
          <a:p>
            <a:r>
              <a:rPr lang="en-US" dirty="0"/>
              <a:t>Loan amounts are right-skewed.</a:t>
            </a:r>
          </a:p>
          <a:p>
            <a:r>
              <a:rPr lang="en-US" dirty="0"/>
              <a:t>Most loans are smaller.</a:t>
            </a:r>
            <a:endParaRPr lang="en-IN" dirty="0"/>
          </a:p>
        </p:txBody>
      </p:sp>
      <p:pic>
        <p:nvPicPr>
          <p:cNvPr id="4" name="Picture 3">
            <a:extLst>
              <a:ext uri="{FF2B5EF4-FFF2-40B4-BE49-F238E27FC236}">
                <a16:creationId xmlns:a16="http://schemas.microsoft.com/office/drawing/2014/main" id="{035C5DAD-8372-1110-D40D-D85D7A0B0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8438" y="1128949"/>
            <a:ext cx="4035027" cy="3827099"/>
          </a:xfrm>
          <a:prstGeom prst="rect">
            <a:avLst/>
          </a:prstGeom>
        </p:spPr>
      </p:pic>
    </p:spTree>
    <p:extLst>
      <p:ext uri="{BB962C8B-B14F-4D97-AF65-F5344CB8AC3E}">
        <p14:creationId xmlns:p14="http://schemas.microsoft.com/office/powerpoint/2010/main" val="502792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925613-1C71-D9B9-4211-49F76D3EE7AC}"/>
              </a:ext>
            </a:extLst>
          </p:cNvPr>
          <p:cNvSpPr>
            <a:spLocks noGrp="1"/>
          </p:cNvSpPr>
          <p:nvPr>
            <p:ph idx="1"/>
          </p:nvPr>
        </p:nvSpPr>
        <p:spPr>
          <a:xfrm>
            <a:off x="1255695" y="415340"/>
            <a:ext cx="6105225" cy="3997828"/>
          </a:xfrm>
        </p:spPr>
        <p:txBody>
          <a:bodyPr/>
          <a:lstStyle/>
          <a:p>
            <a:pPr marL="0" indent="0">
              <a:buNone/>
            </a:pPr>
            <a:r>
              <a:rPr lang="en-US" sz="2400" b="1" dirty="0"/>
              <a:t>Visualization of Count Plot</a:t>
            </a:r>
          </a:p>
          <a:p>
            <a:r>
              <a:rPr lang="en-US" b="1" dirty="0"/>
              <a:t>Count plot of Loan Purpose Counts</a:t>
            </a:r>
            <a:r>
              <a:rPr lang="en-US" dirty="0"/>
              <a:t>: Personal loans outnumber business loans.</a:t>
            </a:r>
          </a:p>
          <a:p>
            <a:r>
              <a:rPr lang="en-US" b="1" dirty="0"/>
              <a:t>Key Insights</a:t>
            </a:r>
          </a:p>
          <a:p>
            <a:r>
              <a:rPr lang="en-US" dirty="0"/>
              <a:t>Personal loans are more common than business loans.</a:t>
            </a:r>
            <a:endParaRPr lang="en-IN" dirty="0"/>
          </a:p>
        </p:txBody>
      </p:sp>
      <p:pic>
        <p:nvPicPr>
          <p:cNvPr id="4" name="Picture 3">
            <a:extLst>
              <a:ext uri="{FF2B5EF4-FFF2-40B4-BE49-F238E27FC236}">
                <a16:creationId xmlns:a16="http://schemas.microsoft.com/office/drawing/2014/main" id="{2D3E49A8-F01F-C79B-5F1F-9092874082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8936" y="1302685"/>
            <a:ext cx="4035027" cy="3827099"/>
          </a:xfrm>
          <a:prstGeom prst="rect">
            <a:avLst/>
          </a:prstGeom>
        </p:spPr>
      </p:pic>
    </p:spTree>
    <p:extLst>
      <p:ext uri="{BB962C8B-B14F-4D97-AF65-F5344CB8AC3E}">
        <p14:creationId xmlns:p14="http://schemas.microsoft.com/office/powerpoint/2010/main" val="736332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2F8E54-661C-1EB6-8966-7D5581F6ECDC}"/>
              </a:ext>
            </a:extLst>
          </p:cNvPr>
          <p:cNvSpPr>
            <a:spLocks noGrp="1"/>
          </p:cNvSpPr>
          <p:nvPr>
            <p:ph idx="1"/>
          </p:nvPr>
        </p:nvSpPr>
        <p:spPr>
          <a:xfrm>
            <a:off x="1447719" y="192024"/>
            <a:ext cx="5794329" cy="3997828"/>
          </a:xfrm>
        </p:spPr>
        <p:txBody>
          <a:bodyPr/>
          <a:lstStyle/>
          <a:p>
            <a:pPr marL="0" indent="0">
              <a:buNone/>
            </a:pPr>
            <a:r>
              <a:rPr lang="en-US" sz="2400" b="1" dirty="0"/>
              <a:t>Visualization of Scatter Plot</a:t>
            </a:r>
          </a:p>
          <a:p>
            <a:r>
              <a:rPr lang="en-US" b="1" dirty="0"/>
              <a:t>Scatter plot of Age vs Loan Amount</a:t>
            </a:r>
            <a:r>
              <a:rPr lang="en-US" dirty="0"/>
              <a:t>: clear pattern between age and loan amount. Points are spread out. </a:t>
            </a:r>
          </a:p>
          <a:p>
            <a:r>
              <a:rPr lang="en-US" b="1" dirty="0"/>
              <a:t>Key Insights</a:t>
            </a:r>
          </a:p>
          <a:p>
            <a:r>
              <a:rPr lang="en-US" dirty="0"/>
              <a:t>Age doesn't seem to strongly correlate with loan amount.</a:t>
            </a:r>
            <a:endParaRPr lang="en-IN" dirty="0"/>
          </a:p>
        </p:txBody>
      </p:sp>
      <p:pic>
        <p:nvPicPr>
          <p:cNvPr id="4" name="Picture 3">
            <a:extLst>
              <a:ext uri="{FF2B5EF4-FFF2-40B4-BE49-F238E27FC236}">
                <a16:creationId xmlns:a16="http://schemas.microsoft.com/office/drawing/2014/main" id="{6FAEF1F0-6740-BD29-1A45-72D608585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2048" y="1192957"/>
            <a:ext cx="4206240" cy="3827100"/>
          </a:xfrm>
          <a:prstGeom prst="rect">
            <a:avLst/>
          </a:prstGeom>
        </p:spPr>
      </p:pic>
    </p:spTree>
    <p:extLst>
      <p:ext uri="{BB962C8B-B14F-4D97-AF65-F5344CB8AC3E}">
        <p14:creationId xmlns:p14="http://schemas.microsoft.com/office/powerpoint/2010/main" val="3168651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5B2766-E016-70A7-C131-32234DB83F2A}"/>
              </a:ext>
            </a:extLst>
          </p:cNvPr>
          <p:cNvSpPr>
            <a:spLocks noGrp="1"/>
          </p:cNvSpPr>
          <p:nvPr>
            <p:ph idx="1"/>
          </p:nvPr>
        </p:nvSpPr>
        <p:spPr>
          <a:xfrm>
            <a:off x="1401999" y="442772"/>
            <a:ext cx="5648025" cy="3997828"/>
          </a:xfrm>
        </p:spPr>
        <p:txBody>
          <a:bodyPr/>
          <a:lstStyle/>
          <a:p>
            <a:r>
              <a:rPr lang="en-US" b="1" dirty="0"/>
              <a:t>Distribution of Interest Rates: </a:t>
            </a:r>
            <a:r>
              <a:rPr lang="en-US" dirty="0"/>
              <a:t>Most interest rates are concentrated at the higher end (around 0.10), with a smaller portion at a lower interest rate (around 0.05).</a:t>
            </a:r>
          </a:p>
          <a:p>
            <a:r>
              <a:rPr lang="en-US" b="1" dirty="0"/>
              <a:t>Key Insights</a:t>
            </a:r>
          </a:p>
          <a:p>
            <a:r>
              <a:rPr lang="en-US" dirty="0"/>
              <a:t>Most data points are at a higher interest rate (0.10).</a:t>
            </a:r>
            <a:endParaRPr lang="en-IN" dirty="0"/>
          </a:p>
        </p:txBody>
      </p:sp>
      <p:pic>
        <p:nvPicPr>
          <p:cNvPr id="4" name="Picture 3">
            <a:extLst>
              <a:ext uri="{FF2B5EF4-FFF2-40B4-BE49-F238E27FC236}">
                <a16:creationId xmlns:a16="http://schemas.microsoft.com/office/drawing/2014/main" id="{3EB641E7-0DC6-3E00-872B-23A0C5550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9752" y="733637"/>
            <a:ext cx="4116941" cy="4192859"/>
          </a:xfrm>
          <a:prstGeom prst="rect">
            <a:avLst/>
          </a:prstGeom>
        </p:spPr>
      </p:pic>
    </p:spTree>
    <p:extLst>
      <p:ext uri="{BB962C8B-B14F-4D97-AF65-F5344CB8AC3E}">
        <p14:creationId xmlns:p14="http://schemas.microsoft.com/office/powerpoint/2010/main" val="2479733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D84B4-94C1-7E1E-8E53-01B24434E36C}"/>
              </a:ext>
            </a:extLst>
          </p:cNvPr>
          <p:cNvSpPr>
            <a:spLocks noGrp="1"/>
          </p:cNvSpPr>
          <p:nvPr>
            <p:ph idx="1"/>
          </p:nvPr>
        </p:nvSpPr>
        <p:spPr>
          <a:xfrm>
            <a:off x="1539159" y="607364"/>
            <a:ext cx="5702889" cy="3997828"/>
          </a:xfrm>
        </p:spPr>
        <p:txBody>
          <a:bodyPr/>
          <a:lstStyle/>
          <a:p>
            <a:r>
              <a:rPr lang="en-US" b="1" dirty="0"/>
              <a:t>Age vs Credit Score: </a:t>
            </a:r>
            <a:r>
              <a:rPr lang="en-US" dirty="0"/>
              <a:t>There's no clear visible correlation between age and credit score from the scatter plot. The data points are spread out without a distinct pattern.</a:t>
            </a:r>
          </a:p>
          <a:p>
            <a:r>
              <a:rPr lang="en-US" b="1" dirty="0"/>
              <a:t>Key Insights</a:t>
            </a:r>
          </a:p>
          <a:p>
            <a:r>
              <a:rPr lang="en-US" dirty="0"/>
              <a:t>No clear correlation between age and credit score.</a:t>
            </a:r>
            <a:endParaRPr lang="en-IN" dirty="0"/>
          </a:p>
        </p:txBody>
      </p:sp>
      <p:pic>
        <p:nvPicPr>
          <p:cNvPr id="4" name="Picture 3">
            <a:extLst>
              <a:ext uri="{FF2B5EF4-FFF2-40B4-BE49-F238E27FC236}">
                <a16:creationId xmlns:a16="http://schemas.microsoft.com/office/drawing/2014/main" id="{F6B317F9-47AA-0288-C96D-96325BDF5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0919" y="1044533"/>
            <a:ext cx="4297681" cy="4306825"/>
          </a:xfrm>
          <a:prstGeom prst="rect">
            <a:avLst/>
          </a:prstGeom>
        </p:spPr>
      </p:pic>
    </p:spTree>
    <p:extLst>
      <p:ext uri="{BB962C8B-B14F-4D97-AF65-F5344CB8AC3E}">
        <p14:creationId xmlns:p14="http://schemas.microsoft.com/office/powerpoint/2010/main" val="3655779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CE5FCE-AFDA-69E9-2A55-6C1E8D205285}"/>
              </a:ext>
            </a:extLst>
          </p:cNvPr>
          <p:cNvSpPr>
            <a:spLocks noGrp="1"/>
          </p:cNvSpPr>
          <p:nvPr>
            <p:ph idx="1"/>
          </p:nvPr>
        </p:nvSpPr>
        <p:spPr>
          <a:xfrm>
            <a:off x="1273983" y="470204"/>
            <a:ext cx="6315537" cy="3997828"/>
          </a:xfrm>
        </p:spPr>
        <p:txBody>
          <a:bodyPr>
            <a:normAutofit lnSpcReduction="10000"/>
          </a:bodyPr>
          <a:lstStyle/>
          <a:p>
            <a:r>
              <a:rPr lang="en-US" b="1" dirty="0"/>
              <a:t>Loan Status by Martial Status: </a:t>
            </a:r>
            <a:r>
              <a:rPr lang="en-US" dirty="0"/>
              <a:t>Married individuals have a higher count of loans compared to single individuals.  </a:t>
            </a:r>
          </a:p>
          <a:p>
            <a:r>
              <a:rPr lang="en-US" dirty="0"/>
              <a:t>For both married and single individuals, short-term loans are more common than long-term loans.</a:t>
            </a:r>
          </a:p>
          <a:p>
            <a:r>
              <a:rPr lang="en-US" b="1" dirty="0"/>
              <a:t>Key Insights</a:t>
            </a:r>
          </a:p>
          <a:p>
            <a:r>
              <a:rPr lang="en-US" dirty="0"/>
              <a:t> Married folks have more loans than singles.    </a:t>
            </a:r>
          </a:p>
          <a:p>
            <a:r>
              <a:rPr lang="en-US" dirty="0"/>
              <a:t> Short-term loans are more common for both married and single individuals.</a:t>
            </a:r>
            <a:endParaRPr lang="en-IN" dirty="0"/>
          </a:p>
        </p:txBody>
      </p:sp>
      <p:pic>
        <p:nvPicPr>
          <p:cNvPr id="4" name="Picture 3">
            <a:extLst>
              <a:ext uri="{FF2B5EF4-FFF2-40B4-BE49-F238E27FC236}">
                <a16:creationId xmlns:a16="http://schemas.microsoft.com/office/drawing/2014/main" id="{84651EF1-FFC2-4907-161A-22B30C86A3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9520" y="1040295"/>
            <a:ext cx="3816097" cy="3842601"/>
          </a:xfrm>
          <a:prstGeom prst="rect">
            <a:avLst/>
          </a:prstGeom>
        </p:spPr>
      </p:pic>
    </p:spTree>
    <p:extLst>
      <p:ext uri="{BB962C8B-B14F-4D97-AF65-F5344CB8AC3E}">
        <p14:creationId xmlns:p14="http://schemas.microsoft.com/office/powerpoint/2010/main" val="3451373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2A5F-6A45-E15C-B3CD-AC3CBE6AF2CC}"/>
              </a:ext>
            </a:extLst>
          </p:cNvPr>
          <p:cNvSpPr>
            <a:spLocks noGrp="1"/>
          </p:cNvSpPr>
          <p:nvPr>
            <p:ph type="title"/>
          </p:nvPr>
        </p:nvSpPr>
        <p:spPr>
          <a:xfrm>
            <a:off x="2456360" y="2545416"/>
            <a:ext cx="7958331" cy="1077229"/>
          </a:xfrm>
        </p:spPr>
        <p:txBody>
          <a:bodyPr/>
          <a:lstStyle/>
          <a:p>
            <a:pPr algn="ctr"/>
            <a:r>
              <a:rPr lang="en-IN" dirty="0"/>
              <a:t>Machine Learning Models</a:t>
            </a:r>
          </a:p>
        </p:txBody>
      </p:sp>
    </p:spTree>
    <p:extLst>
      <p:ext uri="{BB962C8B-B14F-4D97-AF65-F5344CB8AC3E}">
        <p14:creationId xmlns:p14="http://schemas.microsoft.com/office/powerpoint/2010/main" val="2460755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2D04B-6FD2-96B3-5D0F-595A6715E7C6}"/>
              </a:ext>
            </a:extLst>
          </p:cNvPr>
          <p:cNvSpPr>
            <a:spLocks noGrp="1"/>
          </p:cNvSpPr>
          <p:nvPr>
            <p:ph type="title"/>
          </p:nvPr>
        </p:nvSpPr>
        <p:spPr>
          <a:xfrm>
            <a:off x="1250752" y="102347"/>
            <a:ext cx="7958331" cy="1077229"/>
          </a:xfrm>
        </p:spPr>
        <p:txBody>
          <a:bodyPr/>
          <a:lstStyle/>
          <a:p>
            <a:pPr algn="l"/>
            <a:r>
              <a:rPr lang="en-US" b="1" dirty="0"/>
              <a:t>Algorithms Implemented</a:t>
            </a:r>
            <a:br>
              <a:rPr lang="en-US" b="1" dirty="0"/>
            </a:br>
            <a:endParaRPr lang="en-IN" dirty="0"/>
          </a:p>
        </p:txBody>
      </p:sp>
      <p:sp>
        <p:nvSpPr>
          <p:cNvPr id="3" name="Content Placeholder 2">
            <a:extLst>
              <a:ext uri="{FF2B5EF4-FFF2-40B4-BE49-F238E27FC236}">
                <a16:creationId xmlns:a16="http://schemas.microsoft.com/office/drawing/2014/main" id="{283143AD-7DD8-1560-CEF6-DD470DE97ADA}"/>
              </a:ext>
            </a:extLst>
          </p:cNvPr>
          <p:cNvSpPr>
            <a:spLocks noGrp="1"/>
          </p:cNvSpPr>
          <p:nvPr>
            <p:ph idx="1"/>
          </p:nvPr>
        </p:nvSpPr>
        <p:spPr>
          <a:xfrm>
            <a:off x="1412543" y="566928"/>
            <a:ext cx="7796540" cy="5952744"/>
          </a:xfrm>
        </p:spPr>
        <p:txBody>
          <a:bodyPr>
            <a:normAutofit fontScale="85000" lnSpcReduction="20000"/>
          </a:bodyPr>
          <a:lstStyle/>
          <a:p>
            <a:pPr marL="0" indent="0">
              <a:buNone/>
            </a:pPr>
            <a:r>
              <a:rPr lang="en-IN" dirty="0"/>
              <a:t>1. Logistic Regression</a:t>
            </a:r>
          </a:p>
          <a:p>
            <a:r>
              <a:rPr lang="en-US" dirty="0"/>
              <a:t>Logistic Regression provides clear insights into feature importance and relationships.</a:t>
            </a:r>
          </a:p>
          <a:p>
            <a:r>
              <a:rPr lang="en-US" dirty="0"/>
              <a:t> Suitable for binary loan approval outcomes (approved/rejected).</a:t>
            </a:r>
          </a:p>
          <a:p>
            <a:r>
              <a:rPr lang="en-US" dirty="0"/>
              <a:t>Assumes linear relationships between features and log-odds.</a:t>
            </a:r>
          </a:p>
          <a:p>
            <a:pPr marL="0" indent="0">
              <a:buNone/>
            </a:pPr>
            <a:r>
              <a:rPr lang="en-US" dirty="0"/>
              <a:t>2. Random Forest</a:t>
            </a:r>
          </a:p>
          <a:p>
            <a:r>
              <a:rPr lang="en-US" dirty="0"/>
              <a:t>Random Forest captures complex relationships between features.</a:t>
            </a:r>
          </a:p>
          <a:p>
            <a:r>
              <a:rPr lang="en-US" dirty="0"/>
              <a:t>Provides feature importance scores for selection. </a:t>
            </a:r>
          </a:p>
          <a:p>
            <a:r>
              <a:rPr lang="en-US" dirty="0"/>
              <a:t>Handles missing values and outliers well.</a:t>
            </a:r>
          </a:p>
          <a:p>
            <a:pPr marL="0" indent="0">
              <a:buNone/>
            </a:pPr>
            <a:r>
              <a:rPr lang="en-IN" dirty="0"/>
              <a:t>3. XGBoost</a:t>
            </a:r>
          </a:p>
          <a:p>
            <a:r>
              <a:rPr lang="en-US" dirty="0"/>
              <a:t>XGBoost often outperforms other algorithms in terms of accuracy.</a:t>
            </a:r>
          </a:p>
          <a:p>
            <a:r>
              <a:rPr lang="en-US" dirty="0"/>
              <a:t>Captures complex feature interactions. </a:t>
            </a:r>
          </a:p>
          <a:p>
            <a:r>
              <a:rPr lang="en-US" dirty="0"/>
              <a:t>Built-in regularization techniques prevent overfitting.</a:t>
            </a:r>
            <a:endParaRPr lang="en-IN" dirty="0"/>
          </a:p>
        </p:txBody>
      </p:sp>
    </p:spTree>
    <p:extLst>
      <p:ext uri="{BB962C8B-B14F-4D97-AF65-F5344CB8AC3E}">
        <p14:creationId xmlns:p14="http://schemas.microsoft.com/office/powerpoint/2010/main" val="1235321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560D-28AB-8F9C-13EE-A0D22995C604}"/>
              </a:ext>
            </a:extLst>
          </p:cNvPr>
          <p:cNvSpPr>
            <a:spLocks noGrp="1"/>
          </p:cNvSpPr>
          <p:nvPr>
            <p:ph type="title"/>
          </p:nvPr>
        </p:nvSpPr>
        <p:spPr>
          <a:xfrm>
            <a:off x="914400" y="542880"/>
            <a:ext cx="10881360" cy="1077229"/>
          </a:xfrm>
        </p:spPr>
        <p:txBody>
          <a:bodyPr>
            <a:normAutofit fontScale="90000"/>
          </a:bodyPr>
          <a:lstStyle/>
          <a:p>
            <a:pPr algn="l"/>
            <a:r>
              <a:rPr lang="en-US" b="1" dirty="0"/>
              <a:t>Comparison of the models after hyperparameter tuning</a:t>
            </a:r>
            <a:br>
              <a:rPr lang="en-US" b="1" dirty="0"/>
            </a:br>
            <a:br>
              <a:rPr lang="en-US" b="1" dirty="0"/>
            </a:br>
            <a:br>
              <a:rPr lang="en-US" b="1" dirty="0"/>
            </a:br>
            <a:br>
              <a:rPr lang="en-US" b="1" dirty="0"/>
            </a:br>
            <a:endParaRPr lang="en-IN" dirty="0"/>
          </a:p>
        </p:txBody>
      </p:sp>
      <p:pic>
        <p:nvPicPr>
          <p:cNvPr id="4" name="Content Placeholder 3">
            <a:extLst>
              <a:ext uri="{FF2B5EF4-FFF2-40B4-BE49-F238E27FC236}">
                <a16:creationId xmlns:a16="http://schemas.microsoft.com/office/drawing/2014/main" id="{B7FFA00F-603F-76C5-E42B-9E65970606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6257" y="2941008"/>
            <a:ext cx="7577645" cy="3118196"/>
          </a:xfrm>
          <a:prstGeom prst="rect">
            <a:avLst/>
          </a:prstGeom>
        </p:spPr>
      </p:pic>
      <p:sp>
        <p:nvSpPr>
          <p:cNvPr id="6" name="TextBox 5">
            <a:extLst>
              <a:ext uri="{FF2B5EF4-FFF2-40B4-BE49-F238E27FC236}">
                <a16:creationId xmlns:a16="http://schemas.microsoft.com/office/drawing/2014/main" id="{B8415875-4A5D-4E92-DABF-8ECB032EA20F}"/>
              </a:ext>
            </a:extLst>
          </p:cNvPr>
          <p:cNvSpPr txBox="1"/>
          <p:nvPr/>
        </p:nvSpPr>
        <p:spPr>
          <a:xfrm>
            <a:off x="4672584" y="2205325"/>
            <a:ext cx="3968496" cy="523220"/>
          </a:xfrm>
          <a:prstGeom prst="rect">
            <a:avLst/>
          </a:prstGeom>
          <a:noFill/>
        </p:spPr>
        <p:txBody>
          <a:bodyPr wrap="square" rtlCol="0">
            <a:spAutoFit/>
          </a:bodyPr>
          <a:lstStyle/>
          <a:p>
            <a:r>
              <a:rPr lang="en-IN" sz="2800" b="1" dirty="0"/>
              <a:t>Model Evaluation</a:t>
            </a:r>
          </a:p>
        </p:txBody>
      </p:sp>
    </p:spTree>
    <p:extLst>
      <p:ext uri="{BB962C8B-B14F-4D97-AF65-F5344CB8AC3E}">
        <p14:creationId xmlns:p14="http://schemas.microsoft.com/office/powerpoint/2010/main" val="3967848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BF1F-A161-7595-81E4-8F4A6FBBBFD6}"/>
              </a:ext>
            </a:extLst>
          </p:cNvPr>
          <p:cNvSpPr>
            <a:spLocks noGrp="1"/>
          </p:cNvSpPr>
          <p:nvPr>
            <p:ph type="title"/>
          </p:nvPr>
        </p:nvSpPr>
        <p:spPr/>
        <p:txBody>
          <a:bodyPr/>
          <a:lstStyle/>
          <a:p>
            <a:pPr algn="l"/>
            <a:r>
              <a:rPr lang="en-US" b="1" dirty="0"/>
              <a:t>Confusion Matrix Representation:</a:t>
            </a:r>
            <a:br>
              <a:rPr lang="en-US" b="1" dirty="0"/>
            </a:br>
            <a:endParaRPr lang="en-IN" dirty="0"/>
          </a:p>
        </p:txBody>
      </p:sp>
      <p:sp>
        <p:nvSpPr>
          <p:cNvPr id="3" name="Content Placeholder 2">
            <a:extLst>
              <a:ext uri="{FF2B5EF4-FFF2-40B4-BE49-F238E27FC236}">
                <a16:creationId xmlns:a16="http://schemas.microsoft.com/office/drawing/2014/main" id="{AABA7CF4-68B6-AC05-9478-201A6CEDC274}"/>
              </a:ext>
            </a:extLst>
          </p:cNvPr>
          <p:cNvSpPr>
            <a:spLocks noGrp="1"/>
          </p:cNvSpPr>
          <p:nvPr>
            <p:ph idx="1"/>
          </p:nvPr>
        </p:nvSpPr>
        <p:spPr>
          <a:xfrm>
            <a:off x="2197730" y="1261872"/>
            <a:ext cx="7796540" cy="4956048"/>
          </a:xfrm>
        </p:spPr>
        <p:txBody>
          <a:bodyPr>
            <a:normAutofit fontScale="77500" lnSpcReduction="20000"/>
          </a:bodyPr>
          <a:lstStyle/>
          <a:p>
            <a:pPr>
              <a:buNone/>
            </a:pPr>
            <a:endParaRPr lang="en-US" b="1" dirty="0"/>
          </a:p>
          <a:p>
            <a:r>
              <a:rPr lang="en-US" sz="2600" dirty="0"/>
              <a:t>A confusion matrix helps us visualize the model’s classification performance.</a:t>
            </a:r>
          </a:p>
          <a:p>
            <a:endParaRPr lang="en-US" sz="2600" dirty="0"/>
          </a:p>
          <a:p>
            <a:r>
              <a:rPr lang="en-US" sz="2600" dirty="0"/>
              <a:t>It consists of:</a:t>
            </a:r>
          </a:p>
          <a:p>
            <a:endParaRPr lang="en-US" sz="2600" dirty="0"/>
          </a:p>
          <a:p>
            <a:pPr marL="742950" lvl="1" indent="-285750">
              <a:buFont typeface="Wingdings" panose="05000000000000000000" pitchFamily="2" charset="2"/>
              <a:buChar char="ü"/>
            </a:pPr>
            <a:r>
              <a:rPr lang="en-US" sz="2600" b="1" dirty="0"/>
              <a:t>True Positives (TP)</a:t>
            </a:r>
            <a:r>
              <a:rPr lang="en-US" sz="2600" dirty="0"/>
              <a:t>: Correctly predicted positive cases.</a:t>
            </a:r>
          </a:p>
          <a:p>
            <a:pPr marL="742950" lvl="1" indent="-285750">
              <a:buFont typeface="Wingdings" panose="05000000000000000000" pitchFamily="2" charset="2"/>
              <a:buChar char="ü"/>
            </a:pPr>
            <a:r>
              <a:rPr lang="en-US" sz="2600" b="1" dirty="0"/>
              <a:t>True Negatives (TN)</a:t>
            </a:r>
            <a:r>
              <a:rPr lang="en-US" sz="2600" dirty="0"/>
              <a:t>: Correctly predicted negative cases.</a:t>
            </a:r>
          </a:p>
          <a:p>
            <a:pPr marL="742950" lvl="1" indent="-285750">
              <a:buFont typeface="Wingdings" panose="05000000000000000000" pitchFamily="2" charset="2"/>
              <a:buChar char="ü"/>
            </a:pPr>
            <a:r>
              <a:rPr lang="en-US" sz="2600" b="1" dirty="0"/>
              <a:t>False Positives (FP)</a:t>
            </a:r>
            <a:r>
              <a:rPr lang="en-US" sz="2600" dirty="0"/>
              <a:t>: Incorrectly predicted positive cases.</a:t>
            </a:r>
          </a:p>
          <a:p>
            <a:pPr marL="742950" lvl="1" indent="-285750">
              <a:buFont typeface="Wingdings" panose="05000000000000000000" pitchFamily="2" charset="2"/>
              <a:buChar char="ü"/>
            </a:pPr>
            <a:r>
              <a:rPr lang="en-US" sz="2600" b="1" dirty="0"/>
              <a:t>False Negatives (FN)</a:t>
            </a:r>
            <a:r>
              <a:rPr lang="en-US" sz="2600" dirty="0"/>
              <a:t>: Incorrectly predicted negative cases</a:t>
            </a:r>
            <a:endParaRPr lang="en-IN" sz="2600" dirty="0"/>
          </a:p>
        </p:txBody>
      </p:sp>
    </p:spTree>
    <p:extLst>
      <p:ext uri="{BB962C8B-B14F-4D97-AF65-F5344CB8AC3E}">
        <p14:creationId xmlns:p14="http://schemas.microsoft.com/office/powerpoint/2010/main" val="2143984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B5D8-FDF6-1A74-FAE0-135C8DE5397D}"/>
              </a:ext>
            </a:extLst>
          </p:cNvPr>
          <p:cNvSpPr>
            <a:spLocks noGrp="1"/>
          </p:cNvSpPr>
          <p:nvPr>
            <p:ph type="title"/>
          </p:nvPr>
        </p:nvSpPr>
        <p:spPr/>
        <p:txBody>
          <a:bodyPr/>
          <a:lstStyle/>
          <a:p>
            <a:pPr algn="ctr"/>
            <a:r>
              <a:rPr lang="en-IN" dirty="0"/>
              <a:t>Logistic Regression</a:t>
            </a:r>
          </a:p>
        </p:txBody>
      </p:sp>
      <p:pic>
        <p:nvPicPr>
          <p:cNvPr id="5" name="Content Placeholder 4">
            <a:extLst>
              <a:ext uri="{FF2B5EF4-FFF2-40B4-BE49-F238E27FC236}">
                <a16:creationId xmlns:a16="http://schemas.microsoft.com/office/drawing/2014/main" id="{2586BEA2-4FB0-234D-7DDB-A3D82EFB1C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2217" y="2052638"/>
            <a:ext cx="4698504" cy="3997325"/>
          </a:xfrm>
        </p:spPr>
      </p:pic>
    </p:spTree>
    <p:extLst>
      <p:ext uri="{BB962C8B-B14F-4D97-AF65-F5344CB8AC3E}">
        <p14:creationId xmlns:p14="http://schemas.microsoft.com/office/powerpoint/2010/main" val="2652366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16AD9-FC0A-F7B3-7784-6F3081C83409}"/>
              </a:ext>
            </a:extLst>
          </p:cNvPr>
          <p:cNvSpPr>
            <a:spLocks noGrp="1"/>
          </p:cNvSpPr>
          <p:nvPr>
            <p:ph type="title"/>
          </p:nvPr>
        </p:nvSpPr>
        <p:spPr/>
        <p:txBody>
          <a:bodyPr/>
          <a:lstStyle/>
          <a:p>
            <a:pPr algn="ctr"/>
            <a:r>
              <a:rPr lang="en-IN" dirty="0"/>
              <a:t>Random Forest</a:t>
            </a:r>
          </a:p>
        </p:txBody>
      </p:sp>
      <p:pic>
        <p:nvPicPr>
          <p:cNvPr id="5" name="Content Placeholder 4">
            <a:extLst>
              <a:ext uri="{FF2B5EF4-FFF2-40B4-BE49-F238E27FC236}">
                <a16:creationId xmlns:a16="http://schemas.microsoft.com/office/drawing/2014/main" id="{A1549C69-CF14-456F-1F40-DBB5B87209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6769" y="2052638"/>
            <a:ext cx="4689399" cy="3997325"/>
          </a:xfrm>
        </p:spPr>
      </p:pic>
    </p:spTree>
    <p:extLst>
      <p:ext uri="{BB962C8B-B14F-4D97-AF65-F5344CB8AC3E}">
        <p14:creationId xmlns:p14="http://schemas.microsoft.com/office/powerpoint/2010/main" val="2703408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AE8E-9126-390A-D920-D4F922CA011C}"/>
              </a:ext>
            </a:extLst>
          </p:cNvPr>
          <p:cNvSpPr>
            <a:spLocks noGrp="1"/>
          </p:cNvSpPr>
          <p:nvPr>
            <p:ph type="title"/>
          </p:nvPr>
        </p:nvSpPr>
        <p:spPr/>
        <p:txBody>
          <a:bodyPr/>
          <a:lstStyle/>
          <a:p>
            <a:pPr algn="ctr"/>
            <a:r>
              <a:rPr lang="en-IN" dirty="0"/>
              <a:t>XGBoost</a:t>
            </a:r>
          </a:p>
        </p:txBody>
      </p:sp>
      <p:pic>
        <p:nvPicPr>
          <p:cNvPr id="5" name="Content Placeholder 4">
            <a:extLst>
              <a:ext uri="{FF2B5EF4-FFF2-40B4-BE49-F238E27FC236}">
                <a16:creationId xmlns:a16="http://schemas.microsoft.com/office/drawing/2014/main" id="{C03D110A-36ED-E462-50E6-BCCC078AD8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03456" y="2052638"/>
            <a:ext cx="4736025" cy="3997325"/>
          </a:xfrm>
        </p:spPr>
      </p:pic>
    </p:spTree>
    <p:extLst>
      <p:ext uri="{BB962C8B-B14F-4D97-AF65-F5344CB8AC3E}">
        <p14:creationId xmlns:p14="http://schemas.microsoft.com/office/powerpoint/2010/main" val="2046002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3026-C7EB-645C-375B-DCFF29A808AA}"/>
              </a:ext>
            </a:extLst>
          </p:cNvPr>
          <p:cNvSpPr>
            <a:spLocks noGrp="1"/>
          </p:cNvSpPr>
          <p:nvPr>
            <p:ph type="title"/>
          </p:nvPr>
        </p:nvSpPr>
        <p:spPr>
          <a:xfrm>
            <a:off x="2264336" y="623555"/>
            <a:ext cx="7958331" cy="1077229"/>
          </a:xfrm>
        </p:spPr>
        <p:txBody>
          <a:bodyPr/>
          <a:lstStyle/>
          <a:p>
            <a:pPr algn="ctr"/>
            <a:r>
              <a:rPr lang="en-IN" sz="3200" dirty="0"/>
              <a:t>Key Insights &amp; Interpretation</a:t>
            </a:r>
            <a:br>
              <a:rPr lang="en-IN" sz="3200" dirty="0"/>
            </a:br>
            <a:endParaRPr lang="en-IN" dirty="0"/>
          </a:p>
        </p:txBody>
      </p:sp>
      <p:sp>
        <p:nvSpPr>
          <p:cNvPr id="3" name="Content Placeholder 2">
            <a:extLst>
              <a:ext uri="{FF2B5EF4-FFF2-40B4-BE49-F238E27FC236}">
                <a16:creationId xmlns:a16="http://schemas.microsoft.com/office/drawing/2014/main" id="{9986B878-EA93-0FC8-30A4-238DCA2685A8}"/>
              </a:ext>
            </a:extLst>
          </p:cNvPr>
          <p:cNvSpPr>
            <a:spLocks noGrp="1"/>
          </p:cNvSpPr>
          <p:nvPr>
            <p:ph idx="1"/>
          </p:nvPr>
        </p:nvSpPr>
        <p:spPr>
          <a:xfrm>
            <a:off x="2663787" y="1885285"/>
            <a:ext cx="7854371" cy="4349160"/>
          </a:xfrm>
        </p:spPr>
        <p:txBody>
          <a:bodyPr>
            <a:normAutofit lnSpcReduction="10000"/>
          </a:bodyPr>
          <a:lstStyle/>
          <a:p>
            <a:r>
              <a:rPr lang="en-US" b="1" dirty="0"/>
              <a:t>Purpose</a:t>
            </a:r>
            <a:r>
              <a:rPr lang="en-US" dirty="0"/>
              <a:t>: Predict loan approval based on factors like age, income, credit_score, loan_amount, interest_rate, and loan_term.</a:t>
            </a:r>
          </a:p>
          <a:p>
            <a:r>
              <a:rPr lang="en-US" b="1" dirty="0"/>
              <a:t>Accuracy</a:t>
            </a:r>
            <a:r>
              <a:rPr lang="en-US" dirty="0"/>
              <a:t>: 1.0 on test data.    </a:t>
            </a:r>
          </a:p>
          <a:p>
            <a:r>
              <a:rPr lang="en-US" b="1" dirty="0"/>
              <a:t>Coefficients indicate:   </a:t>
            </a:r>
          </a:p>
          <a:p>
            <a:pPr marL="342900" indent="-342900">
              <a:buFont typeface="Arial" panose="020B0604020202020204" pitchFamily="34" charset="0"/>
              <a:buChar char="•"/>
            </a:pPr>
            <a:r>
              <a:rPr lang="en-US" dirty="0"/>
              <a:t>Higher credit_score significantly increases likelihood of approval.   </a:t>
            </a:r>
          </a:p>
          <a:p>
            <a:pPr marL="342900" indent="-342900">
              <a:buFont typeface="Arial" panose="020B0604020202020204" pitchFamily="34" charset="0"/>
              <a:buChar char="•"/>
            </a:pPr>
            <a:r>
              <a:rPr lang="en-US" dirty="0"/>
              <a:t>age has a slight negative impact.        </a:t>
            </a:r>
          </a:p>
          <a:p>
            <a:pPr marL="342900" indent="-342900">
              <a:buFont typeface="Arial" panose="020B0604020202020204" pitchFamily="34" charset="0"/>
              <a:buChar char="•"/>
            </a:pPr>
            <a:r>
              <a:rPr lang="en-US" dirty="0"/>
              <a:t>income, loan_amount, interest_rate, loan_term have minimal impact.</a:t>
            </a:r>
          </a:p>
          <a:p>
            <a:endParaRPr lang="en-IN" dirty="0"/>
          </a:p>
        </p:txBody>
      </p:sp>
    </p:spTree>
    <p:extLst>
      <p:ext uri="{BB962C8B-B14F-4D97-AF65-F5344CB8AC3E}">
        <p14:creationId xmlns:p14="http://schemas.microsoft.com/office/powerpoint/2010/main" val="3177569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2D7E-62D2-7A44-A8AC-ACF6A2915FEE}"/>
              </a:ext>
            </a:extLst>
          </p:cNvPr>
          <p:cNvSpPr>
            <a:spLocks noGrp="1"/>
          </p:cNvSpPr>
          <p:nvPr>
            <p:ph type="title"/>
          </p:nvPr>
        </p:nvSpPr>
        <p:spPr>
          <a:xfrm>
            <a:off x="2300912" y="641843"/>
            <a:ext cx="7958331" cy="1077229"/>
          </a:xfrm>
        </p:spPr>
        <p:txBody>
          <a:bodyPr/>
          <a:lstStyle/>
          <a:p>
            <a:pPr algn="ctr"/>
            <a:r>
              <a:rPr lang="en-IN" sz="3200" dirty="0"/>
              <a:t>Conclusion</a:t>
            </a:r>
            <a:br>
              <a:rPr lang="en-IN" sz="3200" dirty="0"/>
            </a:br>
            <a:endParaRPr lang="en-IN" dirty="0"/>
          </a:p>
        </p:txBody>
      </p:sp>
      <p:sp>
        <p:nvSpPr>
          <p:cNvPr id="3" name="Content Placeholder 2">
            <a:extLst>
              <a:ext uri="{FF2B5EF4-FFF2-40B4-BE49-F238E27FC236}">
                <a16:creationId xmlns:a16="http://schemas.microsoft.com/office/drawing/2014/main" id="{7AD46BA4-1A00-E67A-58D8-D1A5FD8CBB1E}"/>
              </a:ext>
            </a:extLst>
          </p:cNvPr>
          <p:cNvSpPr>
            <a:spLocks noGrp="1"/>
          </p:cNvSpPr>
          <p:nvPr>
            <p:ph idx="1"/>
          </p:nvPr>
        </p:nvSpPr>
        <p:spPr>
          <a:xfrm>
            <a:off x="2773599" y="1719072"/>
            <a:ext cx="7796540" cy="4330872"/>
          </a:xfrm>
        </p:spPr>
        <p:txBody>
          <a:bodyPr>
            <a:normAutofit fontScale="92500" lnSpcReduction="10000"/>
          </a:bodyPr>
          <a:lstStyle/>
          <a:p>
            <a:r>
              <a:rPr lang="en-US" dirty="0"/>
              <a:t>The model shows promise for practical application in loan approval processes, and future work can focus on refining the model and exploring additional features.</a:t>
            </a:r>
            <a:endParaRPr lang="en-IN" dirty="0"/>
          </a:p>
          <a:p>
            <a:r>
              <a:rPr lang="en-US" b="1" dirty="0"/>
              <a:t>Purpose: </a:t>
            </a:r>
            <a:r>
              <a:rPr lang="en-US" dirty="0"/>
              <a:t>This project aimed to develop a model to predict loan approval based on key features such as age, income, credit_score, loan_amount, interest_rate, and loan_term.</a:t>
            </a:r>
          </a:p>
          <a:p>
            <a:r>
              <a:rPr lang="en-US" b="1" dirty="0"/>
              <a:t>Insights:</a:t>
            </a:r>
          </a:p>
          <a:p>
            <a:pPr marL="342900" indent="-342900">
              <a:buFont typeface="Arial" panose="020B0604020202020204" pitchFamily="34" charset="0"/>
              <a:buChar char="•"/>
            </a:pPr>
            <a:r>
              <a:rPr lang="en-US" dirty="0"/>
              <a:t>Higher credit_score significantly increases likelihood of loan approval.</a:t>
            </a:r>
          </a:p>
          <a:p>
            <a:pPr marL="342900" indent="-342900">
              <a:buFont typeface="Arial" panose="020B0604020202020204" pitchFamily="34" charset="0"/>
              <a:buChar char="•"/>
            </a:pPr>
            <a:r>
              <a:rPr lang="en-US" dirty="0"/>
              <a:t>Other factors like age have a slight negative impact.</a:t>
            </a:r>
            <a:endParaRPr lang="en-IN" dirty="0"/>
          </a:p>
          <a:p>
            <a:endParaRPr lang="en-IN" dirty="0"/>
          </a:p>
        </p:txBody>
      </p:sp>
    </p:spTree>
    <p:extLst>
      <p:ext uri="{BB962C8B-B14F-4D97-AF65-F5344CB8AC3E}">
        <p14:creationId xmlns:p14="http://schemas.microsoft.com/office/powerpoint/2010/main" val="377863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4606-2026-F4D8-595B-ABC5614E1C89}"/>
              </a:ext>
            </a:extLst>
          </p:cNvPr>
          <p:cNvSpPr>
            <a:spLocks noGrp="1"/>
          </p:cNvSpPr>
          <p:nvPr>
            <p:ph type="title"/>
          </p:nvPr>
        </p:nvSpPr>
        <p:spPr>
          <a:xfrm>
            <a:off x="2282624" y="1513501"/>
            <a:ext cx="7958331" cy="1077229"/>
          </a:xfrm>
        </p:spPr>
        <p:txBody>
          <a:bodyPr/>
          <a:lstStyle/>
          <a:p>
            <a:pPr algn="ctr"/>
            <a:r>
              <a:rPr lang="en-IN" sz="3600" dirty="0"/>
              <a:t>Further Enhancement</a:t>
            </a:r>
            <a:br>
              <a:rPr lang="en-IN" sz="3600" dirty="0"/>
            </a:br>
            <a:endParaRPr lang="en-IN" dirty="0"/>
          </a:p>
        </p:txBody>
      </p:sp>
      <p:sp>
        <p:nvSpPr>
          <p:cNvPr id="3" name="Content Placeholder 2">
            <a:extLst>
              <a:ext uri="{FF2B5EF4-FFF2-40B4-BE49-F238E27FC236}">
                <a16:creationId xmlns:a16="http://schemas.microsoft.com/office/drawing/2014/main" id="{462880CB-0CD2-8122-7518-48A72E199D01}"/>
              </a:ext>
            </a:extLst>
          </p:cNvPr>
          <p:cNvSpPr>
            <a:spLocks noGrp="1"/>
          </p:cNvSpPr>
          <p:nvPr>
            <p:ph idx="1"/>
          </p:nvPr>
        </p:nvSpPr>
        <p:spPr/>
        <p:txBody>
          <a:bodyPr/>
          <a:lstStyle/>
          <a:p>
            <a:pPr marL="342900" indent="-342900">
              <a:buFont typeface="Arial" panose="020B0604020202020204" pitchFamily="34" charset="0"/>
              <a:buChar char="•"/>
            </a:pPr>
            <a:r>
              <a:rPr lang="en-US" dirty="0"/>
              <a:t>I aim to deploy this model in streamlit app or AWS cloud to make the model more interactive.</a:t>
            </a:r>
          </a:p>
          <a:p>
            <a:pPr marL="342900" indent="-342900">
              <a:buFont typeface="Arial" panose="020B0604020202020204" pitchFamily="34" charset="0"/>
              <a:buChar char="•"/>
            </a:pPr>
            <a:r>
              <a:rPr lang="en-US" dirty="0"/>
              <a:t>Logistics regression model, Decision tree, Random forest to capture non linear relationship and other state of the art result driven models such as XG Boost.</a:t>
            </a:r>
            <a:endParaRPr lang="en-IN" dirty="0"/>
          </a:p>
          <a:p>
            <a:endParaRPr lang="en-IN" dirty="0"/>
          </a:p>
        </p:txBody>
      </p:sp>
    </p:spTree>
    <p:extLst>
      <p:ext uri="{BB962C8B-B14F-4D97-AF65-F5344CB8AC3E}">
        <p14:creationId xmlns:p14="http://schemas.microsoft.com/office/powerpoint/2010/main" val="2137309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7B4A4-B7A6-4440-C959-FF664693FF33}"/>
              </a:ext>
            </a:extLst>
          </p:cNvPr>
          <p:cNvSpPr>
            <a:spLocks noGrp="1"/>
          </p:cNvSpPr>
          <p:nvPr>
            <p:ph type="title"/>
          </p:nvPr>
        </p:nvSpPr>
        <p:spPr>
          <a:xfrm>
            <a:off x="1889432" y="2673432"/>
            <a:ext cx="7958331" cy="1077229"/>
          </a:xfrm>
        </p:spPr>
        <p:txBody>
          <a:bodyPr/>
          <a:lstStyle/>
          <a:p>
            <a:pPr algn="ctr"/>
            <a:r>
              <a:rPr lang="en-IN" dirty="0"/>
              <a:t>Questions ?</a:t>
            </a:r>
          </a:p>
        </p:txBody>
      </p:sp>
    </p:spTree>
    <p:extLst>
      <p:ext uri="{BB962C8B-B14F-4D97-AF65-F5344CB8AC3E}">
        <p14:creationId xmlns:p14="http://schemas.microsoft.com/office/powerpoint/2010/main" val="1012118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AE83-F948-96AE-C84D-F2D4076472B0}"/>
              </a:ext>
            </a:extLst>
          </p:cNvPr>
          <p:cNvSpPr>
            <a:spLocks noGrp="1"/>
          </p:cNvSpPr>
          <p:nvPr>
            <p:ph type="title"/>
          </p:nvPr>
        </p:nvSpPr>
        <p:spPr>
          <a:xfrm>
            <a:off x="2116834" y="2737440"/>
            <a:ext cx="7958331" cy="1077229"/>
          </a:xfrm>
        </p:spPr>
        <p:txBody>
          <a:bodyPr>
            <a:normAutofit/>
          </a:bodyPr>
          <a:lstStyle/>
          <a:p>
            <a:pPr algn="ctr"/>
            <a:r>
              <a:rPr lang="en-IN" sz="4000" dirty="0"/>
              <a:t>Thank You</a:t>
            </a:r>
          </a:p>
        </p:txBody>
      </p:sp>
    </p:spTree>
    <p:extLst>
      <p:ext uri="{BB962C8B-B14F-4D97-AF65-F5344CB8AC3E}">
        <p14:creationId xmlns:p14="http://schemas.microsoft.com/office/powerpoint/2010/main" val="32194218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349</TotalTime>
  <Words>1918</Words>
  <Application>Microsoft Office PowerPoint</Application>
  <PresentationFormat>Widescreen</PresentationFormat>
  <Paragraphs>171</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MS Shell Dlg 2</vt:lpstr>
      <vt:lpstr>Wingdings</vt:lpstr>
      <vt:lpstr>Wingdings 3</vt:lpstr>
      <vt:lpstr>Madison</vt:lpstr>
      <vt:lpstr>Capstone Project Title: Bank Loan Default Prediction Name: Nethra K              Shreya H K              Vanitha Shree              Manasa R              Nageshwari S              Bhuvana TS College: BCU</vt:lpstr>
      <vt:lpstr>AGENDA </vt:lpstr>
      <vt:lpstr>Introduction and Statement</vt:lpstr>
      <vt:lpstr>Background </vt:lpstr>
      <vt:lpstr>Goal of the Project </vt:lpstr>
      <vt:lpstr>Objective </vt:lpstr>
      <vt:lpstr>Project Overview </vt:lpstr>
      <vt:lpstr>PowerPoint Presentation</vt:lpstr>
      <vt:lpstr>PowerPoint Presentation</vt:lpstr>
      <vt:lpstr>Research Questions / Objectives  </vt:lpstr>
      <vt:lpstr>PowerPoint Presentation</vt:lpstr>
      <vt:lpstr>Data Preparation (SQL + Cleaning) </vt:lpstr>
      <vt:lpstr>Descriptive Statistics </vt:lpstr>
      <vt:lpstr>Inferential Statistics </vt:lpstr>
      <vt:lpstr>Exploratory Data Analysis (EDA)</vt:lpstr>
      <vt:lpstr>Insights gained  1. Distribution of Loan Approval</vt:lpstr>
      <vt:lpstr>PowerPoint Presentation</vt:lpstr>
      <vt:lpstr>PowerPoint Presentation</vt:lpstr>
      <vt:lpstr>PowerPoint Presentation</vt:lpstr>
      <vt:lpstr>PowerPoint Presentation</vt:lpstr>
      <vt:lpstr>Correlation &amp; Relationships  </vt:lpstr>
      <vt:lpstr>PowerPoint Presentation</vt:lpstr>
      <vt:lpstr>Visualization of Box Plot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Machine Learning Models</vt:lpstr>
      <vt:lpstr>Algorithms Implemented </vt:lpstr>
      <vt:lpstr>Comparison of the models after hyperparameter tuning    </vt:lpstr>
      <vt:lpstr>Confusion Matrix Representation: </vt:lpstr>
      <vt:lpstr>Logistic Regression</vt:lpstr>
      <vt:lpstr>Random Forest</vt:lpstr>
      <vt:lpstr>XGBoost</vt:lpstr>
      <vt:lpstr>Key Insights &amp; Interpretation </vt:lpstr>
      <vt:lpstr>Conclusion </vt:lpstr>
      <vt:lpstr>Further Enhancement </vt:lpstr>
      <vt:lpstr>Questions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sandhyasandya648@outlook.com</dc:creator>
  <cp:lastModifiedBy>sandhyasandya648@outlook.com</cp:lastModifiedBy>
  <cp:revision>3</cp:revision>
  <dcterms:created xsi:type="dcterms:W3CDTF">2025-11-16T12:32:21Z</dcterms:created>
  <dcterms:modified xsi:type="dcterms:W3CDTF">2025-11-16T20:53:53Z</dcterms:modified>
</cp:coreProperties>
</file>